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thumbnail" Target="docProps/thumbnail.jpeg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saveSubsetFonts="1">
  <p:sldMasterIdLst>
    <p:sldMasterId id="2147483659" r:id="rId6"/>
  </p:sldMasterIdLst>
  <p:sldIdLst>
    <p:sldId id="256" r:id="rId7"/>
    <p:sldId id="257" r:id="rId8"/>
    <p:sldId id="258" r:id="rId9"/>
    <p:sldId id="263" r:id="rId14"/>
    <p:sldId id="259" r:id="rId10"/>
    <p:sldId id="264" r:id="rId15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printerSettings" Target="printerSettings/printerSettings1.bin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4.xml"/><Relationship Id="rId15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914400"/>
            <a:ext cx="2194560" cy="2194560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9720" y="1280160"/>
            <a:ext cx="1463040" cy="1463040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79" y="297180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26679" y="3200400"/>
            <a:ext cx="3108960" cy="1508760"/>
          </a:xfrm>
          <a:prstGeom prst="round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0" y="3657600"/>
            <a:ext cx="685800" cy="960120"/>
          </a:xfrm>
          <a:prstGeom prst="roundRect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3429000"/>
            <a:ext cx="201168" cy="914400"/>
          </a:xfrm>
          <a:prstGeom prst="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4114800"/>
            <a:ext cx="1234440" cy="201168"/>
          </a:xfrm>
          <a:prstGeom prst="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42048" y="3986784"/>
            <a:ext cx="347472" cy="347472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39327" y="4041648"/>
            <a:ext cx="365760" cy="365760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13648" y="3913632"/>
            <a:ext cx="594360" cy="457200"/>
          </a:xfrm>
          <a:prstGeom prst="roundRect">
            <a:avLst/>
          </a:prstGeom>
          <a:solidFill>
            <a:srgbClr val="FF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777240"/>
            <a:ext cx="5943600" cy="3657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200">
                <a:solidFill>
                  <a:srgbClr val="6CD2B8"/>
                </a:solidFill>
                <a:latin typeface="Aptos"/>
              </a:rPr>
              <a:t>PRODUCT DESIGN  /  STARTUP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17320"/>
            <a:ext cx="6126480" cy="118872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4600">
                <a:solidFill>
                  <a:srgbClr val="FFFFFF"/>
                </a:solidFill>
                <a:latin typeface="Aptos"/>
              </a:rPr>
              <a:t>모닝펀치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585216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300">
                <a:solidFill>
                  <a:srgbClr val="FFCC5C"/>
                </a:solidFill>
                <a:latin typeface="Aptos"/>
              </a:rPr>
              <a:t>잠을 깨우는 새로운 베개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5303520" cy="8229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700">
                <a:solidFill>
                  <a:srgbClr val="FFFFFF"/>
                </a:solidFill>
                <a:latin typeface="Aptos"/>
              </a:rPr>
              <a:t>알람이 울리면 베개 옆의 팔이 펼쳐져
부드럽게 움직이는 자동기상베개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46320"/>
            <a:ext cx="2926080" cy="502920"/>
          </a:xfrm>
          <a:prstGeom prst="roundRect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64608"/>
            <a:ext cx="274320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  <a:latin typeface="Aptos"/>
              </a:rPr>
              <a:t>DESIGN CONCEPT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172200"/>
            <a:ext cx="4572000" cy="27432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00">
                <a:solidFill>
                  <a:srgbClr val="B4BED2"/>
                </a:solidFill>
                <a:latin typeface="Aptos"/>
              </a:rPr>
              <a:t>디자인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100">
                <a:solidFill>
                  <a:srgbClr val="FF7542"/>
                </a:solidFill>
                <a:latin typeface="Aptos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070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800">
                <a:solidFill>
                  <a:srgbClr val="161F37"/>
                </a:solidFill>
                <a:latin typeface="Aptos"/>
              </a:rPr>
              <a:t>왜 새로운 기상 방법이 필요할까?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65760"/>
            <a:ext cx="384048" cy="38404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384048" cy="38404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10927080" cy="2286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48920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20624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100">
                <a:solidFill>
                  <a:srgbClr val="161F37"/>
                </a:solidFill>
                <a:latin typeface="Aptos"/>
              </a:rPr>
              <a:t>아침마다 반복되는 문제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798064"/>
            <a:ext cx="164592" cy="164592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743200"/>
            <a:ext cx="384048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알람을 끄고 다시 잠듦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384048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소리만으로는 깊은 잠에서 깨기 어려울 수 있다.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803903"/>
            <a:ext cx="164592" cy="164592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749039"/>
            <a:ext cx="384048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반복되는 스누즈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14800"/>
            <a:ext cx="384048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5분만 더 자다가 준비 시간이 부족해진다.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809744"/>
            <a:ext cx="164592" cy="164592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754880"/>
            <a:ext cx="384048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기상 스트레스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20640"/>
            <a:ext cx="384048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가족의 잔소리나 큰 알람 소리가 부담이 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737360"/>
            <a:ext cx="5303520" cy="42519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448056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100">
                <a:solidFill>
                  <a:srgbClr val="FFFFFF"/>
                </a:solidFill>
                <a:latin typeface="Aptos"/>
              </a:rPr>
              <a:t>모닝펀치의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4434840" cy="10058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900">
                <a:solidFill>
                  <a:srgbClr val="FFCC5C"/>
                </a:solidFill>
                <a:latin typeface="Aptos"/>
              </a:rPr>
              <a:t>소리 + 움직임으로
기상을 돕는 제품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389120" cy="10058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600">
                <a:solidFill>
                  <a:srgbClr val="FFFFFF"/>
                </a:solidFill>
                <a:latin typeface="Aptos"/>
              </a:rPr>
              <a:t>기존 알람을 대체하기보다
더 확실한 기상 경험을 제공한다.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5349240"/>
            <a:ext cx="3017520" cy="73152"/>
          </a:xfrm>
          <a:prstGeom prst="rect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100">
                <a:solidFill>
                  <a:srgbClr val="FF7542"/>
                </a:solidFill>
                <a:latin typeface="Aptos"/>
              </a:rPr>
              <a:t>02 / DESIGN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070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800">
                <a:solidFill>
                  <a:srgbClr val="161F37"/>
                </a:solidFill>
                <a:latin typeface="Aptos"/>
              </a:rPr>
              <a:t>핵심 디자인: 평소에는 숨기고, 알람 때 펼치기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65760"/>
            <a:ext cx="384048" cy="38404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384048" cy="38404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10927080" cy="2286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2788920"/>
            <a:ext cx="3749039" cy="1920240"/>
          </a:xfrm>
          <a:prstGeom prst="round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971800"/>
            <a:ext cx="3383280" cy="1554480"/>
          </a:xfrm>
          <a:prstGeom prst="round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3337560"/>
            <a:ext cx="777240" cy="1005840"/>
          </a:xfrm>
          <a:prstGeom prst="roundRect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434840"/>
            <a:ext cx="10972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100">
                <a:solidFill>
                  <a:srgbClr val="161F37"/>
                </a:solidFill>
                <a:latin typeface="Aptos"/>
              </a:rPr>
              <a:t>수납 공간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3312" y="3493008"/>
            <a:ext cx="320040" cy="594360"/>
          </a:xfrm>
          <a:prstGeom prst="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8448" y="3712463"/>
            <a:ext cx="228600" cy="228600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148840"/>
            <a:ext cx="3200400" cy="3657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500">
                <a:solidFill>
                  <a:srgbClr val="161F37"/>
                </a:solidFill>
                <a:latin typeface="Aptos"/>
              </a:rPr>
              <a:t>일반 베개 형태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983480"/>
            <a:ext cx="3474720" cy="27432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00">
                <a:solidFill>
                  <a:srgbClr val="697284"/>
                </a:solidFill>
                <a:latin typeface="Aptos"/>
              </a:rPr>
              <a:t>옆면 모듈에 팔과 구동부 보관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2066544"/>
            <a:ext cx="164592" cy="164592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011680"/>
            <a:ext cx="41148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깔끔한 외형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377440"/>
            <a:ext cx="41148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팔이 접혀 있을 때는 베개 옆 수납부 안에 들어간다.</a:t>
            </a:r>
          </a:p>
        </p:txBody>
      </p:sp>
      <p:sp>
        <p:nvSpPr>
          <p:cNvPr id="19" name="Oval 18"/>
          <p:cNvSpPr/>
          <p:nvPr/>
        </p:nvSpPr>
        <p:spPr>
          <a:xfrm>
            <a:off x="6812280" y="3209544"/>
            <a:ext cx="164592" cy="164592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154680"/>
            <a:ext cx="41148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분리 가능한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20440"/>
            <a:ext cx="41148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세탁을 위해 베개와 전자·기계 부품을 분리한다.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4352544"/>
            <a:ext cx="164592" cy="164592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297680"/>
            <a:ext cx="41148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부드러운 접촉부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663440"/>
            <a:ext cx="41148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끝부분은 넓고 푹신한 패드로 디자인한다.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486400"/>
            <a:ext cx="429768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300">
                <a:solidFill>
                  <a:srgbClr val="FF7542"/>
                </a:solidFill>
                <a:latin typeface="Aptos"/>
              </a:rPr>
              <a:t>디자인 키워드  #간편함  #안전  #재미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100">
                <a:solidFill>
                  <a:srgbClr val="FF7542"/>
                </a:solidFill>
                <a:latin typeface="Aptos"/>
              </a:rPr>
              <a:t>02 / DESIGN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070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800">
                <a:solidFill>
                  <a:srgbClr val="161F37"/>
                </a:solidFill>
                <a:latin typeface="Aptos"/>
              </a:rPr>
              <a:t>관절형 로봇팔 디자인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65760"/>
            <a:ext cx="384048" cy="38404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384048" cy="38404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10927080" cy="2286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2788920"/>
            <a:ext cx="3749039" cy="1920240"/>
          </a:xfrm>
          <a:prstGeom prst="round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971800"/>
            <a:ext cx="3383280" cy="1554480"/>
          </a:xfrm>
          <a:prstGeom prst="round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3337560"/>
            <a:ext cx="777240" cy="1005840"/>
          </a:xfrm>
          <a:prstGeom prst="roundRect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434840"/>
            <a:ext cx="10972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100">
                <a:solidFill>
                  <a:srgbClr val="161F37"/>
                </a:solidFill>
                <a:latin typeface="Aptos"/>
              </a:rPr>
              <a:t>수납부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3312" y="3493008"/>
            <a:ext cx="320040" cy="594360"/>
          </a:xfrm>
          <a:prstGeom prst="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8448" y="3712463"/>
            <a:ext cx="228600" cy="228600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4983480"/>
            <a:ext cx="3474720" cy="27432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00">
                <a:solidFill>
                  <a:srgbClr val="697284"/>
                </a:solidFill>
                <a:latin typeface="Aptos"/>
              </a:rPr>
              <a:t>관절형 로봇팔 (펼친 모습)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1837943"/>
            <a:ext cx="164592" cy="164592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1783080"/>
            <a:ext cx="41148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팔이 접혀 들어가는 옆면 수납부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48840"/>
            <a:ext cx="41148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평소에는 로봇팔이 베개 옆면 수납부에 접혀 있다.</a:t>
            </a:r>
          </a:p>
        </p:txBody>
      </p:sp>
      <p:sp>
        <p:nvSpPr>
          <p:cNvPr id="19" name="Oval 18"/>
          <p:cNvSpPr/>
          <p:nvPr/>
        </p:nvSpPr>
        <p:spPr>
          <a:xfrm>
            <a:off x="6812280" y="2706624"/>
            <a:ext cx="164592" cy="164592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2651760"/>
            <a:ext cx="41148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팔을 펼치고 움직이는 2개의 관절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017520"/>
            <a:ext cx="41148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두 개의 관절이 움직이며 팔을 펼친다.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3575304"/>
            <a:ext cx="164592" cy="164592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520440"/>
            <a:ext cx="41148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끝부분의 손 모양 패드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886200"/>
            <a:ext cx="41148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끝에는 손 모양의 푹신한 패드가 달린다.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486400"/>
            <a:ext cx="429768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300">
                <a:solidFill>
                  <a:srgbClr val="FF7542"/>
                </a:solidFill>
                <a:latin typeface="Aptos"/>
              </a:rPr>
              <a:t>디자인 키워드  #간편함  #안전  #재미</a:t>
            </a:r>
          </a:p>
        </p:txBody>
      </p:sp>
      <p:sp>
        <p:nvSpPr>
          <p:cNvPr id="26" name="Oval 24"/>
          <p:cNvSpPr/>
          <p:nvPr/>
        </p:nvSpPr>
        <p:spPr>
          <a:xfrm>
            <a:off x="6812280" y="4443983"/>
            <a:ext cx="164592" cy="164592"/>
          </a:xfrm>
          <a:prstGeom prst="ellipse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7" name="TextBox 25"/>
          <p:cNvSpPr txBox="1"/>
          <p:nvPr/>
        </p:nvSpPr>
        <p:spPr>
          <a:xfrm>
            <a:off x="7086600" y="4389120"/>
            <a:ext cx="41148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세탁할 때 분리할 수 있는 구조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7086600" y="4754880"/>
            <a:ext cx="41148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세탁할 때 베개에서 분리할 수 있다.</a:t>
            </a:r>
          </a:p>
        </p:txBody>
      </p:sp>
      <p:sp>
        <p:nvSpPr>
          <p:cNvPr id="29" name="분리 구조 점선"/>
          <p:cNvSpPr/>
          <p:nvPr/>
        </p:nvSpPr>
        <p:spPr>
          <a:xfrm>
            <a:off x="1051560" y="3246120"/>
            <a:ext cx="960120" cy="1188720"/>
          </a:xfrm>
          <a:prstGeom prst="roundRect">
            <a:avLst/>
          </a:prstGeom>
          <a:noFill/>
          <a:ln w="22225">
            <a:solidFill>
              <a:srgbClr val="FF754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팔 1 (수직)"/>
          <p:cNvSpPr/>
          <p:nvPr/>
        </p:nvSpPr>
        <p:spPr>
          <a:xfrm>
            <a:off x="1453896" y="2606040"/>
            <a:ext cx="146304" cy="777240"/>
          </a:xfrm>
          <a:prstGeom prst="rect">
            <a:avLst/>
          </a:prstGeom>
          <a:solidFill>
            <a:srgbClr val="16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팔 2 (수평)"/>
          <p:cNvSpPr/>
          <p:nvPr/>
        </p:nvSpPr>
        <p:spPr>
          <a:xfrm>
            <a:off x="1527048" y="2532888"/>
            <a:ext cx="2404872" cy="146304"/>
          </a:xfrm>
          <a:prstGeom prst="rect">
            <a:avLst/>
          </a:prstGeom>
          <a:solidFill>
            <a:srgbClr val="16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팔 3 (수직)"/>
          <p:cNvSpPr/>
          <p:nvPr/>
        </p:nvSpPr>
        <p:spPr>
          <a:xfrm>
            <a:off x="3858768" y="2606040"/>
            <a:ext cx="146304" cy="320040"/>
          </a:xfrm>
          <a:prstGeom prst="rect">
            <a:avLst/>
          </a:prstGeom>
          <a:solidFill>
            <a:srgbClr val="16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관절 1"/>
          <p:cNvSpPr/>
          <p:nvPr/>
        </p:nvSpPr>
        <p:spPr>
          <a:xfrm>
            <a:off x="1371600" y="2450592"/>
            <a:ext cx="310896" cy="310896"/>
          </a:xfrm>
          <a:prstGeom prst="ellipse">
            <a:avLst/>
          </a:prstGeom>
          <a:solidFill>
            <a:srgbClr val="6CD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관절 2"/>
          <p:cNvSpPr/>
          <p:nvPr/>
        </p:nvSpPr>
        <p:spPr>
          <a:xfrm>
            <a:off x="3776472" y="2450592"/>
            <a:ext cx="310896" cy="310896"/>
          </a:xfrm>
          <a:prstGeom prst="ellipse">
            <a:avLst/>
          </a:prstGeom>
          <a:solidFill>
            <a:srgbClr val="6CD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손 모양 패드"/>
          <p:cNvSpPr/>
          <p:nvPr/>
        </p:nvSpPr>
        <p:spPr>
          <a:xfrm>
            <a:off x="3401568" y="2907792"/>
            <a:ext cx="1024128" cy="411480"/>
          </a:xfrm>
          <a:prstGeom prst="roundRect">
            <a:avLst/>
          </a:prstGeom>
          <a:solidFill>
            <a:srgbClr val="FFD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라벨 관절1"/>
          <p:cNvSpPr txBox="1"/>
          <p:nvPr/>
        </p:nvSpPr>
        <p:spPr>
          <a:xfrm>
            <a:off x="1143000" y="2157984"/>
            <a:ext cx="822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161F37"/>
                </a:solidFill>
                <a:latin typeface="Aptos"/>
              </a:rPr>
              <a:t>관절 1</a:t>
            </a:r>
          </a:p>
        </p:txBody>
      </p:sp>
      <p:sp>
        <p:nvSpPr>
          <p:cNvPr id="37" name="라벨 관절2"/>
          <p:cNvSpPr txBox="1"/>
          <p:nvPr/>
        </p:nvSpPr>
        <p:spPr>
          <a:xfrm>
            <a:off x="3611880" y="2157984"/>
            <a:ext cx="822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161F37"/>
                </a:solidFill>
                <a:latin typeface="Aptos"/>
              </a:rPr>
              <a:t>관절 2</a:t>
            </a:r>
          </a:p>
        </p:txBody>
      </p:sp>
      <p:sp>
        <p:nvSpPr>
          <p:cNvPr id="38" name="라벨 패드"/>
          <p:cNvSpPr txBox="1"/>
          <p:nvPr/>
        </p:nvSpPr>
        <p:spPr>
          <a:xfrm>
            <a:off x="4526280" y="2999232"/>
            <a:ext cx="822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161F37"/>
                </a:solidFill>
                <a:latin typeface="Aptos"/>
              </a:rPr>
              <a:t>손 패드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100">
                <a:solidFill>
                  <a:srgbClr val="FF7542"/>
                </a:solidFill>
                <a:latin typeface="Aptos"/>
              </a:rPr>
              <a:t>03 /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070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800">
                <a:solidFill>
                  <a:srgbClr val="161F37"/>
                </a:solidFill>
                <a:latin typeface="Aptos"/>
              </a:rPr>
              <a:t>사용 흐름은 3단계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65760"/>
            <a:ext cx="384048" cy="38404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384048" cy="38404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10927080" cy="2286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2461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331720"/>
            <a:ext cx="566928" cy="56692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31720"/>
            <a:ext cx="566928" cy="56692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500">
                <a:solidFill>
                  <a:srgbClr val="161F3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26974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000">
                <a:solidFill>
                  <a:srgbClr val="161F37"/>
                </a:solidFill>
                <a:latin typeface="Aptos"/>
              </a:rPr>
              <a:t>알람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2697480" cy="8686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사용자가 원하는
기상 시간을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45720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2600">
                <a:solidFill>
                  <a:srgbClr val="FF754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57400"/>
            <a:ext cx="32461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73752" y="2331720"/>
            <a:ext cx="566928" cy="566928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331720"/>
            <a:ext cx="566928" cy="56692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500">
                <a:solidFill>
                  <a:srgbClr val="161F37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154680"/>
            <a:ext cx="26974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000">
                <a:solidFill>
                  <a:srgbClr val="161F37"/>
                </a:solidFill>
                <a:latin typeface="Aptos"/>
              </a:rPr>
              <a:t>팔이 펼쳐짐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94760"/>
            <a:ext cx="2697480" cy="8686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베개 옆 수납부에서
가벼운 팔 구조가 나옴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2600">
                <a:solidFill>
                  <a:srgbClr val="FF754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057400"/>
            <a:ext cx="32461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68512" y="2331720"/>
            <a:ext cx="566928" cy="566928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2331720"/>
            <a:ext cx="566928" cy="56692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500">
                <a:solidFill>
                  <a:srgbClr val="161F37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54680"/>
            <a:ext cx="26974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000">
                <a:solidFill>
                  <a:srgbClr val="161F37"/>
                </a:solidFill>
                <a:latin typeface="Aptos"/>
              </a:rPr>
              <a:t>부드럽게 터치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794760"/>
            <a:ext cx="2697480" cy="8686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시험용 쿠션에 닿으며
움직임으로 기상을 유도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486400"/>
            <a:ext cx="9875520" cy="5943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532120"/>
            <a:ext cx="941832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ptos"/>
              </a:rPr>
              <a:t>중요: 실제 사람을 치는 방식이 아니라, 약한 움직임과 알람으로 안전하게 깨우는 설계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100">
                <a:solidFill>
                  <a:srgbClr val="FF7542"/>
                </a:solidFill>
                <a:latin typeface="Aptos"/>
              </a:rPr>
              <a:t>03 /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070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800">
                <a:solidFill>
                  <a:srgbClr val="161F37"/>
                </a:solidFill>
                <a:latin typeface="Aptos"/>
              </a:rPr>
              <a:t>로봇팔 작동 방식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65760"/>
            <a:ext cx="384048" cy="38404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384048" cy="38404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10927080" cy="2286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2461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331720"/>
            <a:ext cx="566928" cy="56692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31720"/>
            <a:ext cx="566928" cy="56692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500">
                <a:solidFill>
                  <a:srgbClr val="161F3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26974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000">
                <a:solidFill>
                  <a:srgbClr val="161F37"/>
                </a:solidFill>
                <a:latin typeface="Aptos"/>
              </a:rPr>
              <a:t>평소: 접힘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2697480" cy="8686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로봇팔이 베개 옆</a:t>
            </a:r>
          </a:p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수납부에 접혀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45720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2600">
                <a:solidFill>
                  <a:srgbClr val="FF754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57400"/>
            <a:ext cx="32461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73752" y="2331720"/>
            <a:ext cx="566928" cy="566928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331720"/>
            <a:ext cx="566928" cy="56692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500">
                <a:solidFill>
                  <a:srgbClr val="161F37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154680"/>
            <a:ext cx="26974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000">
                <a:solidFill>
                  <a:srgbClr val="161F37"/>
                </a:solidFill>
                <a:latin typeface="Aptos"/>
              </a:rPr>
              <a:t>알람: 펼쳐짐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94760"/>
            <a:ext cx="2697480" cy="8686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알람이 울리면</a:t>
            </a:r>
          </a:p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관절이 움직이며</a:t>
            </a:r>
          </a:p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팔이 펼쳐진다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2600">
                <a:solidFill>
                  <a:srgbClr val="FF754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057400"/>
            <a:ext cx="32461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68512" y="2331720"/>
            <a:ext cx="566928" cy="566928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2331720"/>
            <a:ext cx="566928" cy="56692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500">
                <a:solidFill>
                  <a:srgbClr val="161F37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54680"/>
            <a:ext cx="26974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000">
                <a:solidFill>
                  <a:srgbClr val="161F37"/>
                </a:solidFill>
                <a:latin typeface="Aptos"/>
              </a:rPr>
              <a:t>터치: 두드림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794760"/>
            <a:ext cx="2697480" cy="8686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손 모양의 푹신한 패드가</a:t>
            </a:r>
          </a:p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아래로 움직여 쿠션을</a:t>
            </a:r>
          </a:p>
          <a:p>
            <a:pPr algn="l"/>
            <a:r>
              <a:rPr b="0" sz="1500">
                <a:solidFill>
                  <a:srgbClr val="697284"/>
                </a:solidFill>
                <a:latin typeface="Aptos"/>
              </a:rPr>
              <a:t>가볍게 두드린다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486400"/>
            <a:ext cx="9875520" cy="5943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532120"/>
            <a:ext cx="941832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ptos"/>
              </a:rPr>
              <a:t>중요: 실제 사람을 치는 방식이 아니라, 약한 움직임과 알람으로 안전하게 깨우는 설계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100">
                <a:solidFill>
                  <a:srgbClr val="FF7542"/>
                </a:solidFill>
                <a:latin typeface="Aptos"/>
              </a:rPr>
              <a:t>04 / VISUAL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070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800">
                <a:solidFill>
                  <a:srgbClr val="161F37"/>
                </a:solidFill>
                <a:latin typeface="Aptos"/>
              </a:rPr>
              <a:t>제품 디자인 방향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65760"/>
            <a:ext cx="384048" cy="38404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384048" cy="38404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10927080" cy="2286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8404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900">
                <a:solidFill>
                  <a:srgbClr val="161F37"/>
                </a:solidFill>
                <a:latin typeface="Aptos"/>
              </a:rPr>
              <a:t>컬러 콘셉트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77440"/>
            <a:ext cx="685800" cy="685800"/>
          </a:xfrm>
          <a:prstGeom prst="ellipse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154680"/>
            <a:ext cx="1005840" cy="3657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000">
                <a:solidFill>
                  <a:srgbClr val="161F37"/>
                </a:solidFill>
                <a:latin typeface="Aptos"/>
              </a:rPr>
              <a:t>딥 네이비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377440"/>
            <a:ext cx="685800" cy="685800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7" y="3154680"/>
            <a:ext cx="1005840" cy="3657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000">
                <a:solidFill>
                  <a:srgbClr val="161F37"/>
                </a:solidFill>
                <a:latin typeface="Aptos"/>
              </a:rPr>
              <a:t>모닝 오렌지</a:t>
            </a:r>
          </a:p>
        </p:txBody>
      </p:sp>
      <p:sp>
        <p:nvSpPr>
          <p:cNvPr id="12" name="Oval 11"/>
          <p:cNvSpPr/>
          <p:nvPr/>
        </p:nvSpPr>
        <p:spPr>
          <a:xfrm>
            <a:off x="3246120" y="2377440"/>
            <a:ext cx="685800" cy="685800"/>
          </a:xfrm>
          <a:prstGeom prst="ellipse">
            <a:avLst/>
          </a:prstGeom>
          <a:solidFill>
            <a:srgbClr val="FAF7F0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7" y="3154680"/>
            <a:ext cx="1005840" cy="3657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000">
                <a:solidFill>
                  <a:srgbClr val="161F37"/>
                </a:solidFill>
                <a:latin typeface="Aptos"/>
              </a:rPr>
              <a:t>소프트 크림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2377440"/>
            <a:ext cx="685800" cy="685800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3154680"/>
            <a:ext cx="1005840" cy="3657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000">
                <a:solidFill>
                  <a:srgbClr val="161F37"/>
                </a:solidFill>
                <a:latin typeface="Aptos"/>
              </a:rPr>
              <a:t>세이프 민트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032503"/>
            <a:ext cx="164592" cy="164592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977639"/>
            <a:ext cx="32004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둥근 모서리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43400"/>
            <a:ext cx="32004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딱딱한 느낌을 줄이고 친근한 인상</a:t>
            </a:r>
          </a:p>
        </p:txBody>
      </p:sp>
      <p:sp>
        <p:nvSpPr>
          <p:cNvPr id="19" name="Oval 18"/>
          <p:cNvSpPr/>
          <p:nvPr/>
        </p:nvSpPr>
        <p:spPr>
          <a:xfrm>
            <a:off x="4434840" y="4032503"/>
            <a:ext cx="164592" cy="164592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3977639"/>
            <a:ext cx="32004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패브릭 커버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4343400"/>
            <a:ext cx="32004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침실과 잘 어울리는 부드러운 질감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4032503"/>
            <a:ext cx="164592" cy="164592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977639"/>
            <a:ext cx="32004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숨김형 수납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343400"/>
            <a:ext cx="320040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팔과 부품이 평소에는 보이지 않게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400">
                <a:solidFill>
                  <a:srgbClr val="697284"/>
                </a:solidFill>
                <a:latin typeface="Aptos"/>
              </a:rPr>
              <a:t>디자인 목표: 장난감처럼 가볍고 재미있지만, 침실 소품처럼 깔끔한 외형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100">
                <a:solidFill>
                  <a:srgbClr val="FF7542"/>
                </a:solidFill>
                <a:latin typeface="Aptos"/>
              </a:rPr>
              <a:t>05 / SAFETY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070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800">
                <a:solidFill>
                  <a:srgbClr val="161F37"/>
                </a:solidFill>
                <a:latin typeface="Aptos"/>
              </a:rPr>
              <a:t>안전도 디자인의 일부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365760"/>
            <a:ext cx="384048" cy="384048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65760"/>
            <a:ext cx="384048" cy="38404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10927080" cy="2286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983480" cy="416052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297680" cy="4572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  <a:latin typeface="Aptos"/>
              </a:rPr>
              <a:t>설계에 반영할 안전 요소</a:t>
            </a:r>
          </a:p>
        </p:txBody>
      </p:sp>
      <p:sp>
        <p:nvSpPr>
          <p:cNvPr id="9" name="Oval 8"/>
          <p:cNvSpPr/>
          <p:nvPr/>
        </p:nvSpPr>
        <p:spPr>
          <a:xfrm>
            <a:off x="1207008" y="2743200"/>
            <a:ext cx="292608" cy="292608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43200"/>
            <a:ext cx="292608" cy="29260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900">
                <a:solidFill>
                  <a:srgbClr val="161F3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24912"/>
            <a:ext cx="3749039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  <a:latin typeface="Aptos"/>
              </a:rPr>
              <a:t>부드러운 끝 패드</a:t>
            </a:r>
          </a:p>
        </p:txBody>
      </p:sp>
      <p:sp>
        <p:nvSpPr>
          <p:cNvPr id="12" name="Oval 11"/>
          <p:cNvSpPr/>
          <p:nvPr/>
        </p:nvSpPr>
        <p:spPr>
          <a:xfrm>
            <a:off x="1207008" y="3264408"/>
            <a:ext cx="292608" cy="292608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264408"/>
            <a:ext cx="292608" cy="29260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900">
                <a:solidFill>
                  <a:srgbClr val="161F3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246120"/>
            <a:ext cx="3749039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  <a:latin typeface="Aptos"/>
              </a:rPr>
              <a:t>관절·모터 부분 덮개</a:t>
            </a:r>
          </a:p>
        </p:txBody>
      </p:sp>
      <p:sp>
        <p:nvSpPr>
          <p:cNvPr id="15" name="Oval 14"/>
          <p:cNvSpPr/>
          <p:nvPr/>
        </p:nvSpPr>
        <p:spPr>
          <a:xfrm>
            <a:off x="1207008" y="3785615"/>
            <a:ext cx="292608" cy="292608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785615"/>
            <a:ext cx="292608" cy="29260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900">
                <a:solidFill>
                  <a:srgbClr val="161F3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767328"/>
            <a:ext cx="3749039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  <a:latin typeface="Aptos"/>
              </a:rPr>
              <a:t>움직임 범위 제한</a:t>
            </a:r>
          </a:p>
        </p:txBody>
      </p:sp>
      <p:sp>
        <p:nvSpPr>
          <p:cNvPr id="18" name="Oval 17"/>
          <p:cNvSpPr/>
          <p:nvPr/>
        </p:nvSpPr>
        <p:spPr>
          <a:xfrm>
            <a:off x="1207008" y="4306824"/>
            <a:ext cx="292608" cy="292608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306824"/>
            <a:ext cx="292608" cy="29260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900">
                <a:solidFill>
                  <a:srgbClr val="161F3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288536"/>
            <a:ext cx="3749039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  <a:latin typeface="Aptos"/>
              </a:rPr>
              <a:t>전원 차단 버튼</a:t>
            </a:r>
          </a:p>
        </p:txBody>
      </p:sp>
      <p:sp>
        <p:nvSpPr>
          <p:cNvPr id="21" name="Oval 20"/>
          <p:cNvSpPr/>
          <p:nvPr/>
        </p:nvSpPr>
        <p:spPr>
          <a:xfrm>
            <a:off x="1207008" y="4828031"/>
            <a:ext cx="292608" cy="292608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4828031"/>
            <a:ext cx="292608" cy="292608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ctr"/>
            <a:r>
              <a:rPr b="1" sz="900">
                <a:solidFill>
                  <a:srgbClr val="161F37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4809744"/>
            <a:ext cx="3749039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  <a:latin typeface="Aptos"/>
              </a:rPr>
              <a:t>전자부품 분리형 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60"/>
            <a:ext cx="4389120" cy="50292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2100">
                <a:solidFill>
                  <a:srgbClr val="161F37"/>
                </a:solidFill>
                <a:latin typeface="Aptos"/>
              </a:rPr>
              <a:t>시제품 테스트 원칙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2798064"/>
            <a:ext cx="164592" cy="164592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743200"/>
            <a:ext cx="420624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사람에게 시험하지 않기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108960"/>
            <a:ext cx="42062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움직임은 별도의 작은 쿠션이나 모형에 닿게 테스트한다.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3941063"/>
            <a:ext cx="164592" cy="164592"/>
          </a:xfrm>
          <a:prstGeom prst="ellipse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886200"/>
            <a:ext cx="420624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힘을 작게 제한하기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251960"/>
            <a:ext cx="42062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가벼운 재료를 사용하고, 걸리면 즉시 멈추게 한다.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5084064"/>
            <a:ext cx="164592" cy="164592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5029200"/>
            <a:ext cx="420624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161F37"/>
                </a:solidFill>
                <a:latin typeface="Aptos"/>
              </a:rPr>
              <a:t>분리·세척 고려하기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394960"/>
            <a:ext cx="4206240" cy="59436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50">
                <a:solidFill>
                  <a:srgbClr val="697284"/>
                </a:solidFill>
                <a:latin typeface="Aptos"/>
              </a:rPr>
              <a:t>전자부품이 들어간 옆면 모듈은 베개에서 분리한다.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731520"/>
            <a:ext cx="1463040" cy="1463040"/>
          </a:xfrm>
          <a:prstGeom prst="ellipse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1051560"/>
            <a:ext cx="822960" cy="822960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200">
                <a:solidFill>
                  <a:srgbClr val="6CD2B8"/>
                </a:solidFill>
                <a:latin typeface="Aptos"/>
              </a:rPr>
              <a:t>MORNING PUNCH / DESIGN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583680" cy="68580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3000">
                <a:solidFill>
                  <a:srgbClr val="FFFFFF"/>
                </a:solidFill>
                <a:latin typeface="Aptos"/>
              </a:rPr>
              <a:t>잠에서 깨는 경험을 바꾸다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6217920" cy="8686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800">
                <a:solidFill>
                  <a:srgbClr val="FFFFFF"/>
                </a:solidFill>
                <a:latin typeface="Aptos"/>
              </a:rPr>
              <a:t>모닝펀치는 알람 소리만으로 부족한 사람을 위해
움직임을 더한 자동기상베개다.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86200"/>
            <a:ext cx="2377440" cy="1325880"/>
          </a:xfrm>
          <a:prstGeom prst="roundRect">
            <a:avLst/>
          </a:prstGeom>
          <a:solidFill>
            <a:srgbClr val="1E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886200"/>
            <a:ext cx="2377440" cy="73152"/>
          </a:xfrm>
          <a:prstGeom prst="rect">
            <a:avLst/>
          </a:prstGeom>
          <a:solidFill>
            <a:srgbClr val="FF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4160520"/>
            <a:ext cx="201168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FF7542"/>
                </a:solidFill>
                <a:latin typeface="Aptos"/>
              </a:rPr>
              <a:t>편리함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617720"/>
            <a:ext cx="20116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  <a:latin typeface="Aptos"/>
              </a:rPr>
              <a:t>알람과 움직임을 결합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886200"/>
            <a:ext cx="2377440" cy="1325880"/>
          </a:xfrm>
          <a:prstGeom prst="roundRect">
            <a:avLst/>
          </a:prstGeom>
          <a:solidFill>
            <a:srgbClr val="1E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3886200"/>
            <a:ext cx="2377440" cy="73152"/>
          </a:xfrm>
          <a:prstGeom prst="rect">
            <a:avLst/>
          </a:prstGeom>
          <a:solidFill>
            <a:srgbClr val="6C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4160520"/>
            <a:ext cx="201168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6CD2B8"/>
                </a:solidFill>
                <a:latin typeface="Aptos"/>
              </a:rPr>
              <a:t>깔끔함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4617720"/>
            <a:ext cx="20116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  <a:latin typeface="Aptos"/>
              </a:rPr>
              <a:t>사용하지 않을 땐 팔을 수납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886200"/>
            <a:ext cx="2377440" cy="1325880"/>
          </a:xfrm>
          <a:prstGeom prst="roundRect">
            <a:avLst/>
          </a:prstGeom>
          <a:solidFill>
            <a:srgbClr val="1E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886200"/>
            <a:ext cx="2377440" cy="73152"/>
          </a:xfrm>
          <a:prstGeom prst="rect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160520"/>
            <a:ext cx="201168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700">
                <a:solidFill>
                  <a:srgbClr val="FFCC5C"/>
                </a:solidFill>
                <a:latin typeface="Aptos"/>
              </a:rPr>
              <a:t>안전함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617720"/>
            <a:ext cx="2011680" cy="41148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  <a:latin typeface="Aptos"/>
              </a:rPr>
              <a:t>부드러운 접촉과 힘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6766560" cy="320040"/>
          </a:xfrm>
          <a:prstGeom prst="rect">
            <a:avLst/>
          </a:prstGeom>
          <a:noFill/>
        </p:spPr>
        <p:txBody>
          <a:bodyPr anchor="ctr" bIns="54864" lIns="54864" numCol="1" rIns="54864" tIns="54864" wrap="square">
            <a:spAutoFit/>
          </a:bodyPr>
          <a:lstStyle/>
          <a:p>
            <a:pPr algn="l"/>
            <a:r>
              <a:rPr b="1" sz="1400">
                <a:solidFill>
                  <a:srgbClr val="FFCC5C"/>
                </a:solidFill>
                <a:latin typeface="Aptos"/>
              </a:rPr>
              <a:t>모닝펀치 — 아침을 깨우는 새로운 디자인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numCol="1"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 numCol="1"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Manager/>
  <Company/>
  <Words>0</Words>
  <Paragraphs>0</Paragraphs>
  <Slides>0</Slides>
  <Notes>0</Notes>
  <TotalTime>1</TotalTime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1">
      <vt:lpstr>Office Theme</vt:lpstr>
    </vt:vector>
  </TitlesOfParts>
  <LinksUpToDate>false</LinksUpToDate>
  <SharedDoc>false</SharedDoc>
  <HyperlinkBase/>
  <HyperlinksChanged>false</HyperlinksChanged>
  <Application>Microsoft Macintosh PowerPoint</Application>
  <AppVersion>14.0000</AppVers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dcterms:created xsi:type="dcterms:W3CDTF">2013-01-27T09:14:16Z</dcterms:created>
  <dc:creator/>
  <dc:description>generated using python-pptx</dc:description>
  <cp:keywords/>
  <cp:lastModifiedBy>Steve Canny</cp:lastModifiedBy>
  <dcterms:modified xsi:type="dcterms:W3CDTF">2013-01-27T09:15:58Z</dcterms:modified>
  <cp:revision>1</cp:revision>
  <dc:subject/>
  <dc:title/>
</cp:coreProperties>
</file>