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1ee0021-7b84-f710-2c62-b21abe37be4f}">
          <p14:sldIdLst>
            <p14:sldId id="256"/>
          </p14:sldIdLst>
        </p14:section>
        <p14:section name="요약" id="{7af9ee38-f127-dada-29e2-3f76b04cc99a}">
          <p14:sldIdLst>
            <p14:sldId id="257"/>
          </p14:sldIdLst>
        </p14:section>
        <p14:section name="1부 경쟁 제품 조사" id="{558fda82-8f9f-65b1-2535-e6e88a4e3e4f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2부 우리 제품 매출 예상" id="{8c19c26e-cfc9-e4da-d9f7-737b91b3c136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3부 사회 환원" id="{44260603-17b4-9ab4-f61e-fa017c84f3d0}">
          <p14:sldIdLst>
            <p14:sldId id="273"/>
            <p14:sldId id="274"/>
            <p14:sldId id="275"/>
            <p14:sldId id="276"/>
          </p14:sldIdLst>
        </p14:section>
        <p14:section name="리스크" id="{8b31dc22-495c-2afc-b7d3-b108bb313117}">
          <p14:sldIdLst>
            <p14:sldId id="277"/>
          </p14:sldIdLst>
        </p14:section>
        <p14:section name="실행 계획" id="{e562410f-d58c-5161-88b5-5d51bee0f999}">
          <p14:sldIdLst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 창업 시나리오입니다. 1부 경쟁 제품 조사, 2부 우리 제품 매출 예상, 3부 사회 환원 비율 순서로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 제품, 우리 매출 예상, 사회 환원 비율의 결론을 한 장에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늦잠의 원인은 소리 알람을 끄고 다시 잠드는 것. 우리는 소리 대신 촉각으로 깨웁니다.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해외 연구 두 건으로 알람을 미루는 행동이 흔하다는 점은 확인됩니다. 한국 직장인 대상 조사는 찾지 못했습니다.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동일한 상용 제품은 확인되지 않았고, 깨우는 방식이 비슷한 제품을 비교했습니다. Hatch 매출은 제3자 추정입니다.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기상 베개 단독 시장 수치는 없어서, 스마트 클락과 스마트 베개 시장을 참고했습니다. 업체별 정의가 달라 직접 비교는 어렵습니다.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공개된 누적 판매량과 가격으로 역산한 추정치입니다. 실제 재무제표가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공개 재무자료가 없어 업계 벤치마크로 비중을 가정했습니다. 재료비와 제작 인건비를 합치면 소비자가의 약 30% 수준입니다.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알람류는 $45~$170, 스마트 베개는 $199~299입니다. 우리는 약 $71(99,000원)로 낮은 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소비자가 99,000원에서 부가세를 빼면 공급가 90,000원. 제조원가가 약 51%, 공헌이익이 약 19%입니다.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재료비 34,000원의 구성입니다. 초도 1만 대 기준이며 3년차에는 규모의 경제로 제조원가가 약 13% 낮아진다고 가정했습니다.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1년차는 정식 출시 후 첫 12개월입니다. 기본안은 1만 대, 보수안 5천 대, 낙관안 2만 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판매 1만 대, 3만 대, 6만 대로 늘고 규모의 경제로 공헌이익률이 19%에서 30%로 개선됩니다.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금액은 억원, 부가세 제외입니다. 고정비에는 인건비, 임차료, 금형·개발·인증비가 포함됩니다.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소비자가 11.9만원이면 1만 대에서 손익분기에 가깝습니다. 재료비 20% 변동은 1년차 영업이익을 약 0.7억원 움직입니다.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국내 대기업은 매출의 약 0.1~0.2%를 사회공헌에 씁니다(조사별 상이). Patagonia는 1985년부터 매출의 1%를 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매출 기준은 적자 구간에도 약속이 유지되고, 비현금 비중이 커서 현금 부담이 작습니다.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현물은 제조원가(장부가)로 계산하므로 같은 금액으로 더 많은 제품을 전달할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수면 중 신체에 닿는 제품이라 안전과 인증이 가장 큰 관문입니다. 인증 비용과 기간은 시험기관 견적이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창업 후 첫 1년의 실행 순서입니다. 환원 프로그램은 정식 출시와 동시에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전에 어떤 숫자를 더 확인해야 하는지 정리했습니다. 낮음 항목은 실제 견적과 공식 자료로 교체해야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출처와 가정을 정리한 슬라이드입니다. 비용 구조 비중과 Hatch 판매량은 추정·미검증 수치입니다.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5836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모닝핸즈(가칭) · 가상 창업 시나리오 — 수치는 공개 자료와 가정에 기반한 추정치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laughingsquid.com/the-wake-up-machine-a-robotic-rubber-hand-alarm-that-wakes-a-person-up-by-repeatedly-slapping-them-in-the-face/" TargetMode="External"/><Relationship Id="rId2" Type="http://schemas.openxmlformats.org/officeDocument/2006/relationships/hyperlink" Target="https://wikipedia.com/wiki/Clocky" TargetMode="External"/><Relationship Id="rId3" Type="http://schemas.openxmlformats.org/officeDocument/2006/relationships/hyperlink" Target="https://students.egfi-k12.org/fresh-faces-gauri-nanda" TargetMode="External"/><Relationship Id="rId4" Type="http://schemas.openxmlformats.org/officeDocument/2006/relationships/hyperlink" Target="https://newatlas.com/clocky-the-alarm-clock-that-runs-away/6959/" TargetMode="External"/><Relationship Id="rId5" Type="http://schemas.openxmlformats.org/officeDocument/2006/relationships/hyperlink" Target="https://shop.chha.ca/products/sonic-alert-home-aware-bed-shaker" TargetMode="External"/><Relationship Id="rId6" Type="http://schemas.openxmlformats.org/officeDocument/2006/relationships/hyperlink" Target="https://www.asinsight.com/report/US/sonic-alert-alarm-clock" TargetMode="External"/><Relationship Id="rId7" Type="http://schemas.openxmlformats.org/officeDocument/2006/relationships/hyperlink" Target="https://www.owler.com/company/hatchbaby" TargetMode="External"/><Relationship Id="rId8" Type="http://schemas.openxmlformats.org/officeDocument/2006/relationships/hyperlink" Target="https://www.gearbrain.com/zeeq-worlds-smartest-pillow-on-kickstarter-1922081846.html" TargetMode="External"/><Relationship Id="rId9" Type="http://schemas.openxmlformats.org/officeDocument/2006/relationships/hyperlink" Target="https://mobilesyrup.com/2017/05/20/sunrise-smart-pillow-device/" TargetMode="External"/><Relationship Id="rId10" Type="http://schemas.openxmlformats.org/officeDocument/2006/relationships/hyperlink" Target="https://www.discovermagazine.com/health/resisting-the-urge-to-hit-snooze-on-your-alarm-could-lead-to-better-sleep" TargetMode="External"/><Relationship Id="rId11" Type="http://schemas.openxmlformats.org/officeDocument/2006/relationships/hyperlink" Target="https://www.gii.co.jp/report/tbrc1695023-smart-clock-global-market-report.html" TargetMode="External"/><Relationship Id="rId12" Type="http://schemas.openxmlformats.org/officeDocument/2006/relationships/hyperlink" Target="https://giikorea.co.kr/report/infi1915548-global-smart-pillows-market.html" TargetMode="External"/><Relationship Id="rId13" Type="http://schemas.openxmlformats.org/officeDocument/2006/relationships/hyperlink" Target="https://youthdaily.co.kr/news/article.html?no=223223" TargetMode="External"/><Relationship Id="rId14" Type="http://schemas.openxmlformats.org/officeDocument/2006/relationships/hyperlink" Target="https://glasswallet.com/calculate/smartstore-fee/vs-other-platforms" TargetMode="External"/><Relationship Id="rId15" Type="http://schemas.openxmlformats.org/officeDocument/2006/relationships/hyperlink" Target="https://www.ufinebattery.com/ko/blog/lithium-battery-kc-certification-guide/" TargetMode="External"/><Relationship Id="rId16" Type="http://schemas.openxmlformats.org/officeDocument/2006/relationships/hyperlink" Target="https://www.etoday.co.kr/news/view/2077062" TargetMode="External"/><Relationship Id="rId17" Type="http://schemas.openxmlformats.org/officeDocument/2006/relationships/hyperlink" Target="https://futurechosun.com/?p=112491" TargetMode="External"/><Relationship Id="rId18" Type="http://schemas.openxmlformats.org/officeDocument/2006/relationships/hyperlink" Target="https://www.etoday.co.kr/news/view/2535828" TargetMode="External"/><Relationship Id="rId19" Type="http://schemas.openxmlformats.org/officeDocument/2006/relationships/hyperlink" Target="https://www.etoday.co.kr/news/view/386228" TargetMode="External"/><Relationship Id="rId20" Type="http://schemas.openxmlformats.org/officeDocument/2006/relationships/hyperlink" Target="https://www.patagonia.com/one-percent-for-the-planet.html" TargetMode="External"/><Relationship Id="rId21" Type="http://schemas.openxmlformats.org/officeDocument/2006/relationships/hyperlink" Target="https://k-incorp.org/qa/conversion/&#48277;&#51064;-&#44592;&#48512;&#44552;-&#48708;&#50857;&#52376;&#47532;-&#54620;&#46020;&#45716;-&#50620;&#47560;&#51064;&#44032;&#50836;" TargetMode="External"/><Relationship Id="rId22" Type="http://schemas.openxmlformats.org/officeDocument/2006/relationships/slideLayout" Target="../slideLayouts/slideLayout4.xml"/><Relationship Id="rId2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모닝핸즈 (가칭)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베개에서 손이 나와 깨워주는 스마트 베개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경쟁 제품 분석 · 연간 매출 예상 · 사회 환원 제안</a:t>
            </a:r>
            <a:endParaRPr lang="en-US" sz="2000" dirty="0"/>
          </a:p>
        </p:txBody>
      </p:sp>
      <p:sp>
        <p:nvSpPr>
          <p:cNvPr id="4" name="표지 원"/>
          <p:cNvSpPr/>
          <p:nvPr/>
        </p:nvSpPr>
        <p:spPr>
          <a:xfrm>
            <a:off x="7863840" y="1371600"/>
            <a:ext cx="3840480" cy="3840480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pic>
        <p:nvPicPr>
          <p:cNvPr id="5" name="표지 손 아이콘" descr="손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2468880"/>
            <a:ext cx="1645920" cy="1645920"/>
          </a:xfrm>
          <a:prstGeom prst="rect">
            <a:avLst/>
          </a:prstGeom>
        </p:spPr>
      </p:pic>
      <p:pic>
        <p:nvPicPr>
          <p:cNvPr id="6" name="표지 달 아이콘" descr="달 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0972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핵심 요약: 세 가지 결론</a:t>
            </a:r>
            <a:endParaRPr lang="en-US" sz="3000" dirty="0"/>
          </a:p>
        </p:txBody>
      </p:sp>
      <p:sp>
        <p:nvSpPr>
          <p:cNvPr id="4" name="요약 카드 1"/>
          <p:cNvSpPr/>
          <p:nvPr/>
        </p:nvSpPr>
        <p:spPr>
          <a:xfrm>
            <a:off x="548640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요약 1 원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F4A259"/>
          </a:solidFill>
          <a:ln w="6350">
            <a:solidFill>
              <a:srgbClr val="F4A259"/>
            </a:solidFill>
            <a:prstDash val="solid"/>
          </a:ln>
        </p:spPr>
      </p:sp>
      <p:pic>
        <p:nvPicPr>
          <p:cNvPr id="6" name="요약 1 아이콘" descr="요약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요약 숫자 1"/>
          <p:cNvSpPr txBox="1"/>
          <p:nvPr/>
        </p:nvSpPr>
        <p:spPr>
          <a:xfrm>
            <a:off x="868680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$1M~$7M</a:t>
            </a:r>
            <a:endParaRPr lang="en-US" sz="4000" dirty="0"/>
          </a:p>
        </p:txBody>
      </p:sp>
      <p:sp>
        <p:nvSpPr>
          <p:cNvPr id="8" name="요약 라벨 1"/>
          <p:cNvSpPr txBox="1"/>
          <p:nvPr/>
        </p:nvSpPr>
        <p:spPr>
          <a:xfrm>
            <a:off x="86868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유사 제품 1년 매출 추정</a:t>
            </a:r>
            <a:endParaRPr lang="en-US" sz="1600" dirty="0"/>
          </a:p>
        </p:txBody>
      </p:sp>
      <p:sp>
        <p:nvSpPr>
          <p:cNvPr id="9" name="요약 설명 1"/>
          <p:cNvSpPr txBox="1"/>
          <p:nvPr/>
        </p:nvSpPr>
        <p:spPr>
          <a:xfrm>
            <a:off x="868680" y="40690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Clocky 연 $0.9~4.2M, Hatch 연 $5~7M(제3자 추정). 재료비와 제작 인건비는 소비자가의 약 30%로 가정했습니다.</a:t>
            </a:r>
            <a:endParaRPr lang="en-US" sz="1400" dirty="0"/>
          </a:p>
        </p:txBody>
      </p:sp>
      <p:sp>
        <p:nvSpPr>
          <p:cNvPr id="10" name="요약 카드 2"/>
          <p:cNvSpPr/>
          <p:nvPr/>
        </p:nvSpPr>
        <p:spPr>
          <a:xfrm>
            <a:off x="4334256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요약 2 원"/>
          <p:cNvSpPr/>
          <p:nvPr/>
        </p:nvSpPr>
        <p:spPr>
          <a:xfrm>
            <a:off x="4654296" y="1783080"/>
            <a:ext cx="640080" cy="640080"/>
          </a:xfrm>
          <a:prstGeom prst="ellipse">
            <a:avLst/>
          </a:prstGeom>
          <a:solidFill>
            <a:srgbClr val="F4A259"/>
          </a:solidFill>
          <a:ln w="6350">
            <a:solidFill>
              <a:srgbClr val="F4A259"/>
            </a:solidFill>
            <a:prstDash val="solid"/>
          </a:ln>
        </p:spPr>
      </p:sp>
      <p:pic>
        <p:nvPicPr>
          <p:cNvPr id="12" name="요약 2 아이콘" descr="요약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16" y="1943100"/>
            <a:ext cx="320040" cy="320040"/>
          </a:xfrm>
          <a:prstGeom prst="rect">
            <a:avLst/>
          </a:prstGeom>
        </p:spPr>
      </p:pic>
      <p:sp>
        <p:nvSpPr>
          <p:cNvPr id="13" name="요약 숫자 2"/>
          <p:cNvSpPr txBox="1"/>
          <p:nvPr/>
        </p:nvSpPr>
        <p:spPr>
          <a:xfrm>
            <a:off x="4654296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9억원</a:t>
            </a:r>
            <a:endParaRPr lang="en-US" sz="4000" dirty="0"/>
          </a:p>
        </p:txBody>
      </p:sp>
      <p:sp>
        <p:nvSpPr>
          <p:cNvPr id="14" name="요약 라벨 2"/>
          <p:cNvSpPr txBox="1"/>
          <p:nvPr/>
        </p:nvSpPr>
        <p:spPr>
          <a:xfrm>
            <a:off x="4654296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우리 1년차 매출 예상</a:t>
            </a:r>
            <a:endParaRPr lang="en-US" sz="1600" dirty="0"/>
          </a:p>
        </p:txBody>
      </p:sp>
      <p:sp>
        <p:nvSpPr>
          <p:cNvPr id="15" name="요약 설명 2"/>
          <p:cNvSpPr txBox="1"/>
          <p:nvPr/>
        </p:nvSpPr>
        <p:spPr>
          <a:xfrm>
            <a:off x="4654296" y="40690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1만 대 × 9만원. 2년차 영업이익 흑자 전환, 3년차 매출 54억원(영업이익률 약 12%).</a:t>
            </a:r>
            <a:endParaRPr lang="en-US" sz="1400" dirty="0"/>
          </a:p>
        </p:txBody>
      </p:sp>
      <p:sp>
        <p:nvSpPr>
          <p:cNvPr id="16" name="요약 카드 3"/>
          <p:cNvSpPr/>
          <p:nvPr/>
        </p:nvSpPr>
        <p:spPr>
          <a:xfrm>
            <a:off x="8119872" y="146304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요약 3 원"/>
          <p:cNvSpPr/>
          <p:nvPr/>
        </p:nvSpPr>
        <p:spPr>
          <a:xfrm>
            <a:off x="8439912" y="1783080"/>
            <a:ext cx="640080" cy="640080"/>
          </a:xfrm>
          <a:prstGeom prst="ellipse">
            <a:avLst/>
          </a:prstGeom>
          <a:solidFill>
            <a:srgbClr val="F4A259"/>
          </a:solidFill>
          <a:ln w="6350">
            <a:solidFill>
              <a:srgbClr val="F4A259"/>
            </a:solidFill>
            <a:prstDash val="solid"/>
          </a:ln>
        </p:spPr>
      </p:sp>
      <p:pic>
        <p:nvPicPr>
          <p:cNvPr id="18" name="요약 3 아이콘" descr="요약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932" y="1943100"/>
            <a:ext cx="320040" cy="320040"/>
          </a:xfrm>
          <a:prstGeom prst="rect">
            <a:avLst/>
          </a:prstGeom>
        </p:spPr>
      </p:pic>
      <p:sp>
        <p:nvSpPr>
          <p:cNvPr id="19" name="요약 숫자 3"/>
          <p:cNvSpPr txBox="1"/>
          <p:nvPr/>
        </p:nvSpPr>
        <p:spPr>
          <a:xfrm>
            <a:off x="8439912" y="2651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0.5%</a:t>
            </a:r>
            <a:endParaRPr lang="en-US" sz="4000" dirty="0"/>
          </a:p>
        </p:txBody>
      </p:sp>
      <p:sp>
        <p:nvSpPr>
          <p:cNvPr id="20" name="요약 라벨 3"/>
          <p:cNvSpPr txBox="1"/>
          <p:nvPr/>
        </p:nvSpPr>
        <p:spPr>
          <a:xfrm>
            <a:off x="8439912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사회 환원 제안: 매출의 0.5%</a:t>
            </a:r>
            <a:endParaRPr lang="en-US" sz="1600" dirty="0"/>
          </a:p>
        </p:txBody>
      </p:sp>
      <p:sp>
        <p:nvSpPr>
          <p:cNvPr id="21" name="요약 설명 3"/>
          <p:cNvSpPr txBox="1"/>
          <p:nvPr/>
        </p:nvSpPr>
        <p:spPr>
          <a:xfrm>
            <a:off x="8439912" y="40690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국내 대기업 평균(0.1~0.2%)의 2.5배 이상. 영업이익률 10% 이상이면 1%로 상향합니다.</a:t>
            </a:r>
            <a:endParaRPr lang="en-US" sz="1400" dirty="0"/>
          </a:p>
        </p:txBody>
      </p:sp>
      <p:sp>
        <p:nvSpPr>
          <p:cNvPr id="22" name="요약 각주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모든 금액은 부가세 제외 기준(소비자가 99,000원 → 공급가 90,000원), 환율 1,400원/$ 가정입니다.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1부. 유사 제품과 시장 조사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같거나 비슷한 제품은 무엇이 있고, 1년에 얼마를 팔며, 돈이 어디에 쓰이는가</a:t>
            </a:r>
            <a:endParaRPr lang="en-US" sz="2000" dirty="0"/>
          </a:p>
        </p:txBody>
      </p:sp>
      <p:sp>
        <p:nvSpPr>
          <p:cNvPr id="4" name="섹션 번호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01</a:t>
            </a:r>
            <a:endParaRPr lang="en-US" sz="8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늦잠 문제와 우리의 해법</a:t>
            </a:r>
            <a:endParaRPr lang="en-US" sz="3000" dirty="0"/>
          </a:p>
        </p:txBody>
      </p:sp>
      <p:sp>
        <p:nvSpPr>
          <p:cNvPr id="4" name="문제 제목"/>
          <p:cNvSpPr txBox="1"/>
          <p:nvPr/>
        </p:nvSpPr>
        <p:spPr>
          <a:xfrm>
            <a:off x="54864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문제: 알람은 끄면 끝</a:t>
            </a:r>
            <a:endParaRPr lang="en-US" sz="2000" dirty="0"/>
          </a:p>
        </p:txBody>
      </p:sp>
      <p:sp>
        <p:nvSpPr>
          <p:cNvPr id="5" name="문제 카드 1"/>
          <p:cNvSpPr/>
          <p:nvPr/>
        </p:nvSpPr>
        <p:spPr>
          <a:xfrm>
            <a:off x="548640" y="2103120"/>
            <a:ext cx="49377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문제 1 원"/>
          <p:cNvSpPr/>
          <p:nvPr/>
        </p:nvSpPr>
        <p:spPr>
          <a:xfrm>
            <a:off x="777240" y="2359152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7" name="문제 1 아이콘" descr="문제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519172"/>
            <a:ext cx="320040" cy="320040"/>
          </a:xfrm>
          <a:prstGeom prst="rect">
            <a:avLst/>
          </a:prstGeom>
        </p:spPr>
      </p:pic>
      <p:sp>
        <p:nvSpPr>
          <p:cNvPr id="8" name="문제 제목 1"/>
          <p:cNvSpPr txBox="1"/>
          <p:nvPr/>
        </p:nvSpPr>
        <p:spPr>
          <a:xfrm>
            <a:off x="16459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알람이 울린다</a:t>
            </a:r>
            <a:endParaRPr lang="en-US" sz="1600" dirty="0"/>
          </a:p>
        </p:txBody>
      </p:sp>
      <p:sp>
        <p:nvSpPr>
          <p:cNvPr id="9" name="문제 설명 1"/>
          <p:cNvSpPr txBox="1"/>
          <p:nvPr/>
        </p:nvSpPr>
        <p:spPr>
          <a:xfrm>
            <a:off x="1645920" y="2724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소리는 손쉽게 끌 수 있습니다</a:t>
            </a:r>
            <a:endParaRPr lang="en-US" sz="1400" dirty="0"/>
          </a:p>
        </p:txBody>
      </p:sp>
      <p:sp>
        <p:nvSpPr>
          <p:cNvPr id="10" name="문제 카드 2"/>
          <p:cNvSpPr/>
          <p:nvPr/>
        </p:nvSpPr>
        <p:spPr>
          <a:xfrm>
            <a:off x="548640" y="3429000"/>
            <a:ext cx="49377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문제 2 원"/>
          <p:cNvSpPr/>
          <p:nvPr/>
        </p:nvSpPr>
        <p:spPr>
          <a:xfrm>
            <a:off x="777240" y="3685032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12" name="문제 2 아이콘" descr="문제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845052"/>
            <a:ext cx="320040" cy="320040"/>
          </a:xfrm>
          <a:prstGeom prst="rect">
            <a:avLst/>
          </a:prstGeom>
        </p:spPr>
      </p:pic>
      <p:sp>
        <p:nvSpPr>
          <p:cNvPr id="13" name="문제 제목 2"/>
          <p:cNvSpPr txBox="1"/>
          <p:nvPr/>
        </p:nvSpPr>
        <p:spPr>
          <a:xfrm>
            <a:off x="16459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끄고 다시 잔다</a:t>
            </a:r>
            <a:endParaRPr lang="en-US" sz="1600" dirty="0"/>
          </a:p>
        </p:txBody>
      </p:sp>
      <p:sp>
        <p:nvSpPr>
          <p:cNvPr id="14" name="문제 설명 2"/>
          <p:cNvSpPr txBox="1"/>
          <p:nvPr/>
        </p:nvSpPr>
        <p:spPr>
          <a:xfrm>
            <a:off x="1645920" y="4050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스누즈를 반복하며 시간이 흐릅니다</a:t>
            </a:r>
            <a:endParaRPr lang="en-US" sz="1400" dirty="0"/>
          </a:p>
        </p:txBody>
      </p:sp>
      <p:sp>
        <p:nvSpPr>
          <p:cNvPr id="15" name="문제 카드 3"/>
          <p:cNvSpPr/>
          <p:nvPr/>
        </p:nvSpPr>
        <p:spPr>
          <a:xfrm>
            <a:off x="548640" y="4754880"/>
            <a:ext cx="49377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문제 3 원"/>
          <p:cNvSpPr/>
          <p:nvPr/>
        </p:nvSpPr>
        <p:spPr>
          <a:xfrm>
            <a:off x="777240" y="5010912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17" name="문제 3 아이콘" descr="문제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5170932"/>
            <a:ext cx="320040" cy="320040"/>
          </a:xfrm>
          <a:prstGeom prst="rect">
            <a:avLst/>
          </a:prstGeom>
        </p:spPr>
      </p:pic>
      <p:sp>
        <p:nvSpPr>
          <p:cNvPr id="18" name="문제 제목 3"/>
          <p:cNvSpPr txBox="1"/>
          <p:nvPr/>
        </p:nvSpPr>
        <p:spPr>
          <a:xfrm>
            <a:off x="164592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늦잠으로 이어진다</a:t>
            </a:r>
            <a:endParaRPr lang="en-US" sz="1600" dirty="0"/>
          </a:p>
        </p:txBody>
      </p:sp>
      <p:sp>
        <p:nvSpPr>
          <p:cNvPr id="19" name="문제 설명 3"/>
          <p:cNvSpPr txBox="1"/>
          <p:nvPr/>
        </p:nvSpPr>
        <p:spPr>
          <a:xfrm>
            <a:off x="1645920" y="5376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지각과 서두름으로 하루가 꼬입니다</a:t>
            </a:r>
            <a:endParaRPr lang="en-US" sz="1400" dirty="0"/>
          </a:p>
        </p:txBody>
      </p:sp>
      <p:sp>
        <p:nvSpPr>
          <p:cNvPr id="20" name="해법 카드"/>
          <p:cNvSpPr/>
          <p:nvPr/>
        </p:nvSpPr>
        <p:spPr>
          <a:xfrm>
            <a:off x="5852160" y="1463040"/>
            <a:ext cx="5788152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1" name="해법 제목"/>
          <p:cNvSpPr txBox="1"/>
          <p:nvPr/>
        </p:nvSpPr>
        <p:spPr>
          <a:xfrm>
            <a:off x="621792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해법: 베개 속 손이 깨운다</a:t>
            </a:r>
            <a:endParaRPr lang="en-US" sz="2000" dirty="0"/>
          </a:p>
        </p:txBody>
      </p:sp>
      <p:sp>
        <p:nvSpPr>
          <p:cNvPr id="22" name="해법 번호 원 1"/>
          <p:cNvSpPr/>
          <p:nvPr/>
        </p:nvSpPr>
        <p:spPr>
          <a:xfrm>
            <a:off x="6217920" y="24688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해법 번호 1"/>
          <p:cNvSpPr txBox="1"/>
          <p:nvPr/>
        </p:nvSpPr>
        <p:spPr>
          <a:xfrm>
            <a:off x="62179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4" name="해법 설명 1"/>
          <p:cNvSpPr txBox="1"/>
          <p:nvPr/>
        </p:nvSpPr>
        <p:spPr>
          <a:xfrm>
            <a:off x="6858000" y="24231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앱 또는 베개 버튼으로 기상 시각 설정</a:t>
            </a:r>
            <a:endParaRPr lang="en-US" sz="1500" dirty="0"/>
          </a:p>
        </p:txBody>
      </p:sp>
      <p:sp>
        <p:nvSpPr>
          <p:cNvPr id="25" name="해법 번호 원 2"/>
          <p:cNvSpPr/>
          <p:nvPr/>
        </p:nvSpPr>
        <p:spPr>
          <a:xfrm>
            <a:off x="6217920" y="33375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해법 번호 2"/>
          <p:cNvSpPr txBox="1"/>
          <p:nvPr/>
        </p:nvSpPr>
        <p:spPr>
          <a:xfrm>
            <a:off x="62179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해법 설명 2"/>
          <p:cNvSpPr txBox="1"/>
          <p:nvPr/>
        </p:nvSpPr>
        <p:spPr>
          <a:xfrm>
            <a:off x="6858000" y="32918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시각이 되면 베개 옆면에서 부드러운 실리콘 손이 나와 어깨를 톡톡</a:t>
            </a:r>
            <a:endParaRPr lang="en-US" sz="1500" dirty="0"/>
          </a:p>
        </p:txBody>
      </p:sp>
      <p:sp>
        <p:nvSpPr>
          <p:cNvPr id="28" name="해법 번호 원 3"/>
          <p:cNvSpPr/>
          <p:nvPr/>
        </p:nvSpPr>
        <p:spPr>
          <a:xfrm>
            <a:off x="6217920" y="420624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9" name="해법 번호 3"/>
          <p:cNvSpPr txBox="1"/>
          <p:nvPr/>
        </p:nvSpPr>
        <p:spPr>
          <a:xfrm>
            <a:off x="62179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해법 설명 3"/>
          <p:cNvSpPr txBox="1"/>
          <p:nvPr/>
        </p:nvSpPr>
        <p:spPr>
          <a:xfrm>
            <a:off x="6858000" y="41605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일어나 머리를 떼면 압력 센서가 감지해 손이 들어감</a:t>
            </a:r>
            <a:endParaRPr lang="en-US" sz="1500" dirty="0"/>
          </a:p>
        </p:txBody>
      </p:sp>
      <p:sp>
        <p:nvSpPr>
          <p:cNvPr id="31" name="해법 번호 원 4"/>
          <p:cNvSpPr/>
          <p:nvPr/>
        </p:nvSpPr>
        <p:spPr>
          <a:xfrm>
            <a:off x="6217920" y="507492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2" name="해법 번호 4"/>
          <p:cNvSpPr txBox="1"/>
          <p:nvPr/>
        </p:nvSpPr>
        <p:spPr>
          <a:xfrm>
            <a:off x="621792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해법 설명 4"/>
          <p:cNvSpPr txBox="1"/>
          <p:nvPr/>
        </p:nvSpPr>
        <p:spPr>
          <a:xfrm>
            <a:off x="6858000" y="5029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약하게 시작해 점점 강해지는 단계별 강도, 안전 정지 기능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늦잠은 실제로 흔한 문제인가</a:t>
            </a:r>
            <a:endParaRPr lang="en-US" sz="3000" dirty="0"/>
          </a:p>
        </p:txBody>
      </p:sp>
      <p:sp>
        <p:nvSpPr>
          <p:cNvPr id="4" name="근거 카드 1"/>
          <p:cNvSpPr/>
          <p:nvPr/>
        </p:nvSpPr>
        <p:spPr>
          <a:xfrm>
            <a:off x="548640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근거 1 원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6" name="근거 1 아이콘" descr="근거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근거 숫자 1"/>
          <p:cNvSpPr txBox="1"/>
          <p:nvPr/>
        </p:nvSpPr>
        <p:spPr>
          <a:xfrm>
            <a:off x="86868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69%</a:t>
            </a:r>
            <a:endParaRPr lang="en-US" sz="4800" dirty="0"/>
          </a:p>
        </p:txBody>
      </p:sp>
      <p:sp>
        <p:nvSpPr>
          <p:cNvPr id="8" name="근거 출처 1"/>
          <p:cNvSpPr txBox="1"/>
          <p:nvPr/>
        </p:nvSpPr>
        <p:spPr>
          <a:xfrm>
            <a:off x="86868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스웨덴 스톡홀름대 설문(1,732명)</a:t>
            </a:r>
            <a:endParaRPr lang="en-US" sz="1500" dirty="0"/>
          </a:p>
        </p:txBody>
      </p:sp>
      <p:sp>
        <p:nvSpPr>
          <p:cNvPr id="9" name="근거 설명 1"/>
          <p:cNvSpPr txBox="1"/>
          <p:nvPr/>
        </p:nvSpPr>
        <p:spPr>
          <a:xfrm>
            <a:off x="868680" y="4343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습관적으로 스누즈를 쓰거나 알람을 여러 개 맞춘다고 답했고, 평균 22분을 미뤘습니다.</a:t>
            </a:r>
            <a:endParaRPr lang="en-US" sz="1400" dirty="0"/>
          </a:p>
        </p:txBody>
      </p:sp>
      <p:sp>
        <p:nvSpPr>
          <p:cNvPr id="10" name="근거 카드 2"/>
          <p:cNvSpPr/>
          <p:nvPr/>
        </p:nvSpPr>
        <p:spPr>
          <a:xfrm>
            <a:off x="4334256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근거 2 원"/>
          <p:cNvSpPr/>
          <p:nvPr/>
        </p:nvSpPr>
        <p:spPr>
          <a:xfrm>
            <a:off x="4654296" y="1783080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12" name="근거 2 아이콘" descr="근거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16" y="1943100"/>
            <a:ext cx="320040" cy="320040"/>
          </a:xfrm>
          <a:prstGeom prst="rect">
            <a:avLst/>
          </a:prstGeom>
        </p:spPr>
      </p:pic>
      <p:sp>
        <p:nvSpPr>
          <p:cNvPr id="13" name="근거 숫자 2"/>
          <p:cNvSpPr txBox="1"/>
          <p:nvPr/>
        </p:nvSpPr>
        <p:spPr>
          <a:xfrm>
            <a:off x="4654296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55.7%</a:t>
            </a:r>
            <a:endParaRPr lang="en-US" sz="4800" dirty="0"/>
          </a:p>
        </p:txBody>
      </p:sp>
      <p:sp>
        <p:nvSpPr>
          <p:cNvPr id="14" name="근거 출처 2"/>
          <p:cNvSpPr txBox="1"/>
          <p:nvPr/>
        </p:nvSpPr>
        <p:spPr>
          <a:xfrm>
            <a:off x="4654296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미국 수면 앱 데이터(약 2.1만 명)</a:t>
            </a:r>
            <a:endParaRPr lang="en-US" sz="1500" dirty="0"/>
          </a:p>
        </p:txBody>
      </p:sp>
      <p:sp>
        <p:nvSpPr>
          <p:cNvPr id="15" name="근거 설명 2"/>
          <p:cNvSpPr txBox="1"/>
          <p:nvPr/>
        </p:nvSpPr>
        <p:spPr>
          <a:xfrm>
            <a:off x="4654296" y="43434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알람을 쓴 300만 일 밤 중 절반 이상에서 스누즈를 눌렀고, 평균 10.8분을 미뤘습니다.</a:t>
            </a:r>
            <a:endParaRPr lang="en-US" sz="1400" dirty="0"/>
          </a:p>
        </p:txBody>
      </p:sp>
      <p:sp>
        <p:nvSpPr>
          <p:cNvPr id="16" name="근거 주의 카드"/>
          <p:cNvSpPr/>
          <p:nvPr/>
        </p:nvSpPr>
        <p:spPr>
          <a:xfrm>
            <a:off x="8119872" y="146304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7" name="주의 제목"/>
          <p:cNvSpPr txBox="1"/>
          <p:nvPr/>
        </p:nvSpPr>
        <p:spPr>
          <a:xfrm>
            <a:off x="8439912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해석 시 주의</a:t>
            </a:r>
            <a:endParaRPr lang="en-US" sz="1800" dirty="0"/>
          </a:p>
        </p:txBody>
      </p:sp>
      <p:sp>
        <p:nvSpPr>
          <p:cNvPr id="18" name="주의 내용"/>
          <p:cNvSpPr txBox="1"/>
          <p:nvPr/>
        </p:nvSpPr>
        <p:spPr>
          <a:xfrm>
            <a:off x="8439912" y="237744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두 연구 모두 스누즈가 수면에 크게 해롭다는 증거는 약했습니다. 우리 제품의 가치는 건강 개선이 아니라 정시 기상과 지각 방지입니다.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한국 직장인 대상 설문은 찾지 못해 직접 조사가 필요합니다.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유사 제품은 무엇이 있나</a:t>
            </a:r>
            <a:endParaRPr lang="en-US" sz="3000" dirty="0"/>
          </a:p>
        </p:txBody>
      </p:sp>
      <p:graphicFrame>
        <p:nvGraphicFramePr>
          <p:cNvPr id="7" name="경쟁 제품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1920240"/>
                <a:gridCol w="2651760"/>
                <a:gridCol w="20391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제품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깨우는 방식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가격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판매·규모 근거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우리와의 차이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Clocky (구르는 알람시계)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바퀴로 도망가는 시계를 쫓아가 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출시가 약 $50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누적 50만 대(2012 인터뷰), 초기 2년 3.5만 대(사례 자료)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소리와 추격 vs 촉각 터치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Sonic Bomb + 침대 진동기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큰 소리와 침대 진동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진동기 $17.99~, 세트 $44.99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판매량 비공개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움직임 없는 진동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Hatch Restore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빛과 소리로 점진적 기상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Restore 3 약 $170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회사 연 매출 $5~7M 추정(제3자, 비공개)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고가 조명형 vs 물리적 터치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스마트 베개 (ZEEQ, Sunrise)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수면 단계 감지 후 진동·빛·소리로 기상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ZEEQ 예정가 $299, Sunrise $199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2016~17 Kickstarter, ZEEQ 약 $24만 모금(현재 판매 미확인)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센서·앱 중심 고가 vs 물리적 터치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Wake-up Machine (Simone Giertz)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고무 팔이 얼굴을 때림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시판 안 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DIY 작품, 판매 없음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안전한 상용화 제품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경쟁 결론 카드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경쟁 결론"/>
          <p:cNvSpPr txBox="1"/>
          <p:nvPr/>
        </p:nvSpPr>
        <p:spPr>
          <a:xfrm>
            <a:off x="822960" y="5303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“베개에서 손이 나오는” 동일 상용 제품은 확인되지 않았습니다. 다만 센서형 스마트 베개가 이미 있어, 차별점을 ‘물리적 터치’로 증명하는 것이 핵심입니다. 유사 특허 조사도 필요합니다.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인접 시장은 빠르게 성장 중</a:t>
            </a:r>
            <a:endParaRPr lang="en-US" sz="3000" dirty="0"/>
          </a:p>
        </p:txBody>
      </p:sp>
      <p:sp>
        <p:nvSpPr>
          <p:cNvPr id="4" name="시장 카드 1"/>
          <p:cNvSpPr/>
          <p:nvPr/>
        </p:nvSpPr>
        <p:spPr>
          <a:xfrm>
            <a:off x="548640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시장 1 원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6" name="시장 1 아이콘" descr="시장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7" name="시장 숫자 1"/>
          <p:cNvSpPr txBox="1"/>
          <p:nvPr/>
        </p:nvSpPr>
        <p:spPr>
          <a:xfrm>
            <a:off x="868680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$13.2억 → $25.2억</a:t>
            </a:r>
            <a:endParaRPr lang="en-US" sz="2100" dirty="0"/>
          </a:p>
        </p:txBody>
      </p:sp>
      <p:sp>
        <p:nvSpPr>
          <p:cNvPr id="8" name="시장 라벨 1"/>
          <p:cNvSpPr txBox="1"/>
          <p:nvPr/>
        </p:nvSpPr>
        <p:spPr>
          <a:xfrm>
            <a:off x="86868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스마트 클락 시장</a:t>
            </a:r>
            <a:endParaRPr lang="en-US" sz="1600" dirty="0"/>
          </a:p>
        </p:txBody>
      </p:sp>
      <p:sp>
        <p:nvSpPr>
          <p:cNvPr id="9" name="시장 설명 1"/>
          <p:cNvSpPr txBox="1"/>
          <p:nvPr/>
        </p:nvSpPr>
        <p:spPr>
          <a:xfrm>
            <a:off x="868680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2025년 → 2029년 전망, 연평균 약 17.6% 성장 (The Business Research Company)</a:t>
            </a:r>
            <a:endParaRPr lang="en-US" sz="1400" dirty="0"/>
          </a:p>
        </p:txBody>
      </p:sp>
      <p:sp>
        <p:nvSpPr>
          <p:cNvPr id="10" name="시장 카드 2"/>
          <p:cNvSpPr/>
          <p:nvPr/>
        </p:nvSpPr>
        <p:spPr>
          <a:xfrm>
            <a:off x="4334256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시장 2 원"/>
          <p:cNvSpPr/>
          <p:nvPr/>
        </p:nvSpPr>
        <p:spPr>
          <a:xfrm>
            <a:off x="4654296" y="1783080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12" name="시장 2 아이콘" descr="시장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16" y="1943100"/>
            <a:ext cx="320040" cy="320040"/>
          </a:xfrm>
          <a:prstGeom prst="rect">
            <a:avLst/>
          </a:prstGeom>
        </p:spPr>
      </p:pic>
      <p:sp>
        <p:nvSpPr>
          <p:cNvPr id="13" name="시장 숫자 2"/>
          <p:cNvSpPr txBox="1"/>
          <p:nvPr/>
        </p:nvSpPr>
        <p:spPr>
          <a:xfrm>
            <a:off x="4654296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+$9.4억</a:t>
            </a:r>
            <a:endParaRPr lang="en-US" sz="2100" dirty="0"/>
          </a:p>
        </p:txBody>
      </p:sp>
      <p:sp>
        <p:nvSpPr>
          <p:cNvPr id="14" name="시장 라벨 2"/>
          <p:cNvSpPr txBox="1"/>
          <p:nvPr/>
        </p:nvSpPr>
        <p:spPr>
          <a:xfrm>
            <a:off x="4654296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스마트 베개 시장</a:t>
            </a:r>
            <a:endParaRPr lang="en-US" sz="1600" dirty="0"/>
          </a:p>
        </p:txBody>
      </p:sp>
      <p:sp>
        <p:nvSpPr>
          <p:cNvPr id="15" name="시장 설명 2"/>
          <p:cNvSpPr txBox="1"/>
          <p:nvPr/>
        </p:nvSpPr>
        <p:spPr>
          <a:xfrm>
            <a:off x="4654296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2024~2029년 증가분 전망, 연평균 21.1% 성장 (Technavio)</a:t>
            </a:r>
            <a:endParaRPr lang="en-US" sz="1400" dirty="0"/>
          </a:p>
        </p:txBody>
      </p:sp>
      <p:sp>
        <p:nvSpPr>
          <p:cNvPr id="16" name="시장 카드 3"/>
          <p:cNvSpPr/>
          <p:nvPr/>
        </p:nvSpPr>
        <p:spPr>
          <a:xfrm>
            <a:off x="8119872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시장 3 원"/>
          <p:cNvSpPr/>
          <p:nvPr/>
        </p:nvSpPr>
        <p:spPr>
          <a:xfrm>
            <a:off x="8439912" y="1783080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18" name="시장 3 아이콘" descr="시장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932" y="1943100"/>
            <a:ext cx="320040" cy="320040"/>
          </a:xfrm>
          <a:prstGeom prst="rect">
            <a:avLst/>
          </a:prstGeom>
        </p:spPr>
      </p:pic>
      <p:sp>
        <p:nvSpPr>
          <p:cNvPr id="19" name="시장 숫자 3"/>
          <p:cNvSpPr txBox="1"/>
          <p:nvPr/>
        </p:nvSpPr>
        <p:spPr>
          <a:xfrm>
            <a:off x="8439912" y="2697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약 5조원</a:t>
            </a:r>
            <a:endParaRPr lang="en-US" sz="2100" dirty="0"/>
          </a:p>
        </p:txBody>
      </p:sp>
      <p:sp>
        <p:nvSpPr>
          <p:cNvPr id="20" name="시장 라벨 3"/>
          <p:cNvSpPr txBox="1"/>
          <p:nvPr/>
        </p:nvSpPr>
        <p:spPr>
          <a:xfrm>
            <a:off x="8439912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국내 수면 산업 (2025 추정)</a:t>
            </a:r>
            <a:endParaRPr lang="en-US" sz="1600" dirty="0"/>
          </a:p>
        </p:txBody>
      </p:sp>
      <p:sp>
        <p:nvSpPr>
          <p:cNvPr id="21" name="시장 설명 3"/>
          <p:cNvSpPr txBox="1"/>
          <p:nvPr/>
        </p:nvSpPr>
        <p:spPr>
          <a:xfrm>
            <a:off x="8439912" y="39319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한국수면산업협회 인용 추정치(2011년 4,800억원). 산정 기준이 불분명합니다.</a:t>
            </a:r>
            <a:endParaRPr lang="en-US" sz="1400" dirty="0"/>
          </a:p>
        </p:txBody>
      </p:sp>
      <p:sp>
        <p:nvSpPr>
          <p:cNvPr id="22" name="시장 각주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시장조사 업체의 전망치는 정의와 기준 연도가 달라 서로 비교할 수 없으며, 성장률이 부풀려져 있을 수 있습니다.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경쟁 제품의 1년 매출 추정</a:t>
            </a:r>
            <a:endParaRPr lang="en-US" sz="3000" dirty="0"/>
          </a:p>
        </p:txBody>
      </p:sp>
      <p:pic>
        <p:nvPicPr>
          <p:cNvPr id="4" name="차트 1" descr="1년 매출 추정 (백만 달러) 차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669280" cy="4389120"/>
          </a:xfrm>
          <a:prstGeom prst="rect">
            <a:avLst/>
          </a:prstGeom>
        </p:spPr>
      </p:pic>
      <p:sp>
        <p:nvSpPr>
          <p:cNvPr id="5" name="산식 카드 1"/>
          <p:cNvSpPr/>
          <p:nvPr/>
        </p:nvSpPr>
        <p:spPr>
          <a:xfrm>
            <a:off x="6492240" y="1463040"/>
            <a:ext cx="514807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산식 이름 1"/>
          <p:cNvSpPr txBox="1"/>
          <p:nvPr/>
        </p:nvSpPr>
        <p:spPr>
          <a:xfrm>
            <a:off x="681228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Clocky</a:t>
            </a:r>
            <a:endParaRPr lang="en-US" sz="1600" dirty="0"/>
          </a:p>
        </p:txBody>
      </p:sp>
      <p:sp>
        <p:nvSpPr>
          <p:cNvPr id="7" name="산식 결과 1"/>
          <p:cNvSpPr txBox="1"/>
          <p:nvPr/>
        </p:nvSpPr>
        <p:spPr>
          <a:xfrm>
            <a:off x="6812280" y="2103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$0.9M ~ $4.2M</a:t>
            </a:r>
            <a:endParaRPr lang="en-US" sz="2600" dirty="0"/>
          </a:p>
        </p:txBody>
      </p:sp>
      <p:sp>
        <p:nvSpPr>
          <p:cNvPr id="8" name="산식 근거 1"/>
          <p:cNvSpPr txBox="1"/>
          <p:nvPr/>
        </p:nvSpPr>
        <p:spPr>
          <a:xfrm>
            <a:off x="6812280" y="27432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약 13억~59억원. 2년 3.5만 대 → 연 $0.9M, 3년 13만 대 → 연 $2.2M, 누적 50만 대 ÷ 약 6년 → 연 $4.2M. 출처 간 편차가 큽니다.</a:t>
            </a:r>
            <a:endParaRPr lang="en-US" sz="1400" dirty="0"/>
          </a:p>
        </p:txBody>
      </p:sp>
      <p:sp>
        <p:nvSpPr>
          <p:cNvPr id="9" name="산식 카드 2"/>
          <p:cNvSpPr/>
          <p:nvPr/>
        </p:nvSpPr>
        <p:spPr>
          <a:xfrm>
            <a:off x="6492240" y="3749040"/>
            <a:ext cx="5148072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산식 이름 2"/>
          <p:cNvSpPr txBox="1"/>
          <p:nvPr/>
        </p:nvSpPr>
        <p:spPr>
          <a:xfrm>
            <a:off x="6812280" y="3977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Hatch</a:t>
            </a:r>
            <a:endParaRPr lang="en-US" sz="1600" dirty="0"/>
          </a:p>
        </p:txBody>
      </p:sp>
      <p:sp>
        <p:nvSpPr>
          <p:cNvPr id="11" name="산식 결과 2"/>
          <p:cNvSpPr txBox="1"/>
          <p:nvPr/>
        </p:nvSpPr>
        <p:spPr>
          <a:xfrm>
            <a:off x="6812280" y="4389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$5M ~ $7M</a:t>
            </a:r>
            <a:endParaRPr lang="en-US" sz="2600" dirty="0"/>
          </a:p>
        </p:txBody>
      </p:sp>
      <p:sp>
        <p:nvSpPr>
          <p:cNvPr id="12" name="산식 근거 2"/>
          <p:cNvSpPr txBox="1"/>
          <p:nvPr/>
        </p:nvSpPr>
        <p:spPr>
          <a:xfrm>
            <a:off x="6812280" y="50292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약 70억~98억원. 비공개 기업의 제3자 추정치이며 여러 제품을 합친 회사 전체 매출입니다.</a:t>
            </a:r>
            <a:endParaRPr lang="en-US" sz="1400" dirty="0"/>
          </a:p>
        </p:txBody>
      </p:sp>
      <p:sp>
        <p:nvSpPr>
          <p:cNvPr id="13" name="매출 각주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Sonic Alert는 판매량이 공개되지 않아 매출을 추정하지 않았습니다. 환율 1,400원/$ 가정.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경쟁 제품 비용 구조 분석</a:t>
            </a:r>
            <a:endParaRPr lang="en-US" sz="3000" dirty="0"/>
          </a:p>
        </p:txBody>
      </p:sp>
      <p:pic>
        <p:nvPicPr>
          <p:cNvPr id="4" name="차트 2" descr="비용·이익 구성 (매출 100%) 차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212080" cy="4754880"/>
          </a:xfrm>
          <a:prstGeom prst="rect">
            <a:avLst/>
          </a:prstGeom>
        </p:spPr>
      </p:pic>
      <p:graphicFrame>
        <p:nvGraphicFramePr>
          <p:cNvPr id="10" name="비용 구조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463040"/>
          <a:ext cx="5605272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65376"/>
                <a:gridCol w="186537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Clocky형 ($4.2M)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Hatch형 ($6.0M)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재료비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24% · $1.01M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22% · $1.32M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제작 인건비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6% · $0.25M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4% · $0.24M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물류·포장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7% · $0.29M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5% · $0.30M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판매 수수료·유통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25% · $1.05M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15% · $0.90M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마케팅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12% · $0.50M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20% · $1.20M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연구개발·관리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16% · $0.67M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24% · $1.44M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영업이익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10% · $0.42M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10% · $0.60M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비용 근거 카드"/>
          <p:cNvSpPr/>
          <p:nvPr/>
        </p:nvSpPr>
        <p:spPr>
          <a:xfrm>
            <a:off x="6035040" y="5120640"/>
            <a:ext cx="5605272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비용 근거"/>
          <p:cNvSpPr txBox="1"/>
          <p:nvPr/>
        </p:nvSpPr>
        <p:spPr>
          <a:xfrm>
            <a:off x="6263640" y="5120640"/>
            <a:ext cx="5166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공개 재무자료가 없어 비중은 가정입니다. 참고: Kindle 2 분해 시 재료·제조비 ≈ 소비자가의 51%, 아마존 전자제품 수수료 8%, 전자제품 반품률 8~12%.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경쟁 분석에서 얻은 시사점</a:t>
            </a:r>
            <a:endParaRPr lang="en-US" sz="3000" dirty="0"/>
          </a:p>
        </p:txBody>
      </p:sp>
      <p:pic>
        <p:nvPicPr>
          <p:cNvPr id="4" name="차트 3" descr="가격 포지션 (달러) 차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669280" cy="4572000"/>
          </a:xfrm>
          <a:prstGeom prst="rect">
            <a:avLst/>
          </a:prstGeom>
        </p:spPr>
      </p:pic>
      <p:sp>
        <p:nvSpPr>
          <p:cNvPr id="5" name="시사점 카드 1"/>
          <p:cNvSpPr/>
          <p:nvPr/>
        </p:nvSpPr>
        <p:spPr>
          <a:xfrm>
            <a:off x="6492240" y="1371600"/>
            <a:ext cx="51480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시사점 1 원"/>
          <p:cNvSpPr/>
          <p:nvPr/>
        </p:nvSpPr>
        <p:spPr>
          <a:xfrm>
            <a:off x="6675120" y="1737360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7" name="시사점 1 아이콘" descr="시사점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1897380"/>
            <a:ext cx="320040" cy="320040"/>
          </a:xfrm>
          <a:prstGeom prst="rect">
            <a:avLst/>
          </a:prstGeom>
        </p:spPr>
      </p:pic>
      <p:sp>
        <p:nvSpPr>
          <p:cNvPr id="8" name="시사점 제목 1"/>
          <p:cNvSpPr txBox="1"/>
          <p:nvPr/>
        </p:nvSpPr>
        <p:spPr>
          <a:xfrm>
            <a:off x="7498080" y="15087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제조원가는 소비자가의 1/3 선</a:t>
            </a:r>
            <a:endParaRPr lang="en-US" sz="1500" dirty="0"/>
          </a:p>
        </p:txBody>
      </p:sp>
      <p:sp>
        <p:nvSpPr>
          <p:cNvPr id="9" name="시사점 설명 1"/>
          <p:cNvSpPr txBox="1"/>
          <p:nvPr/>
        </p:nvSpPr>
        <p:spPr>
          <a:xfrm>
            <a:off x="7498080" y="190195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재료비와 제작 인건비가 소비자가의 약 30%일 때 마케팅과 개발비를 감당할 수 있습니다.</a:t>
            </a:r>
            <a:endParaRPr lang="en-US" sz="1300" dirty="0"/>
          </a:p>
        </p:txBody>
      </p:sp>
      <p:sp>
        <p:nvSpPr>
          <p:cNvPr id="10" name="시사점 카드 2"/>
          <p:cNvSpPr/>
          <p:nvPr/>
        </p:nvSpPr>
        <p:spPr>
          <a:xfrm>
            <a:off x="6492240" y="2926080"/>
            <a:ext cx="51480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시사점 2 원"/>
          <p:cNvSpPr/>
          <p:nvPr/>
        </p:nvSpPr>
        <p:spPr>
          <a:xfrm>
            <a:off x="6675120" y="3291840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12" name="시사점 2 아이콘" descr="시사점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3451860"/>
            <a:ext cx="320040" cy="320040"/>
          </a:xfrm>
          <a:prstGeom prst="rect">
            <a:avLst/>
          </a:prstGeom>
        </p:spPr>
      </p:pic>
      <p:sp>
        <p:nvSpPr>
          <p:cNvPr id="13" name="시사점 제목 2"/>
          <p:cNvSpPr txBox="1"/>
          <p:nvPr/>
        </p:nvSpPr>
        <p:spPr>
          <a:xfrm>
            <a:off x="7498080" y="30632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유통 마진이 이익을 갉아먹는다</a:t>
            </a:r>
            <a:endParaRPr lang="en-US" sz="1500" dirty="0"/>
          </a:p>
        </p:txBody>
      </p:sp>
      <p:sp>
        <p:nvSpPr>
          <p:cNvPr id="14" name="시사점 설명 2"/>
          <p:cNvSpPr txBox="1"/>
          <p:nvPr/>
        </p:nvSpPr>
        <p:spPr>
          <a:xfrm>
            <a:off x="7498080" y="345643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자사몰과 크라우드펀딩 비중을 높여 판매 수수료를 평균 11%로 낮춥니다.</a:t>
            </a:r>
            <a:endParaRPr lang="en-US" sz="1300" dirty="0"/>
          </a:p>
        </p:txBody>
      </p:sp>
      <p:sp>
        <p:nvSpPr>
          <p:cNvPr id="15" name="시사점 카드 3"/>
          <p:cNvSpPr/>
          <p:nvPr/>
        </p:nvSpPr>
        <p:spPr>
          <a:xfrm>
            <a:off x="6492240" y="4480560"/>
            <a:ext cx="51480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시사점 3 원"/>
          <p:cNvSpPr/>
          <p:nvPr/>
        </p:nvSpPr>
        <p:spPr>
          <a:xfrm>
            <a:off x="6675120" y="4846320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17" name="시사점 3 아이콘" descr="시사점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5006340"/>
            <a:ext cx="320040" cy="320040"/>
          </a:xfrm>
          <a:prstGeom prst="rect">
            <a:avLst/>
          </a:prstGeom>
        </p:spPr>
      </p:pic>
      <p:sp>
        <p:nvSpPr>
          <p:cNvPr id="18" name="시사점 제목 3"/>
          <p:cNvSpPr txBox="1"/>
          <p:nvPr/>
        </p:nvSpPr>
        <p:spPr>
          <a:xfrm>
            <a:off x="7498080" y="46177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가격을 올릴 여지가 있다</a:t>
            </a:r>
            <a:endParaRPr lang="en-US" sz="1500" dirty="0"/>
          </a:p>
        </p:txBody>
      </p:sp>
      <p:sp>
        <p:nvSpPr>
          <p:cNvPr id="19" name="시사점 설명 3"/>
          <p:cNvSpPr txBox="1"/>
          <p:nvPr/>
        </p:nvSpPr>
        <p:spPr>
          <a:xfrm>
            <a:off x="7498080" y="501091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스마트 베개는 $199~299, Hatch는 약 $170입니다. 9.9만원($71)은 낮은 편이라 가격 테스트가 필요합니다.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2부. 우리 제품의 연간 매출 예상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1대당 손익, 1년차 시나리오, 3개년 전망</a:t>
            </a:r>
            <a:endParaRPr lang="en-US" sz="2000" dirty="0"/>
          </a:p>
        </p:txBody>
      </p:sp>
      <p:sp>
        <p:nvSpPr>
          <p:cNvPr id="4" name="섹션 번호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02</a:t>
            </a:r>
            <a:endParaRPr lang="en-US" sz="8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우리 제품 1대당 손익</a:t>
            </a:r>
            <a:endParaRPr lang="en-US" sz="3000" dirty="0"/>
          </a:p>
        </p:txBody>
      </p:sp>
      <p:graphicFrame>
        <p:nvGraphicFramePr>
          <p:cNvPr id="13" name="단위 경제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금액(원)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공급가 대비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소비자가 (부가세 포함)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공급가 (부가세 제외)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재료비 (BOM)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34,000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37.8%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제작 인건비 (OEM 조립)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인증·품질관리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물류·포장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제조원가 소계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45,500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50.6%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판매 수수료·유통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9,900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마케팅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13,500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반품·AS 충당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3,600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공헌이익 (고정비 차감 전)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17,500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19.4%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핵심 숫자 카드 1"/>
          <p:cNvSpPr/>
          <p:nvPr/>
        </p:nvSpPr>
        <p:spPr>
          <a:xfrm>
            <a:off x="7680960" y="137160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핵심 숫자 1"/>
          <p:cNvSpPr txBox="1"/>
          <p:nvPr/>
        </p:nvSpPr>
        <p:spPr>
          <a:xfrm>
            <a:off x="7955280" y="1554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99,000원</a:t>
            </a:r>
            <a:endParaRPr lang="en-US" sz="3200" dirty="0"/>
          </a:p>
        </p:txBody>
      </p:sp>
      <p:sp>
        <p:nvSpPr>
          <p:cNvPr id="7" name="핵심 숫자 설명 1"/>
          <p:cNvSpPr txBox="1"/>
          <p:nvPr/>
        </p:nvSpPr>
        <p:spPr>
          <a:xfrm>
            <a:off x="795528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소비자가 (부가세 포함)</a:t>
            </a:r>
            <a:endParaRPr lang="en-US" sz="1400" dirty="0"/>
          </a:p>
        </p:txBody>
      </p:sp>
      <p:sp>
        <p:nvSpPr>
          <p:cNvPr id="8" name="핵심 숫자 카드 2"/>
          <p:cNvSpPr/>
          <p:nvPr/>
        </p:nvSpPr>
        <p:spPr>
          <a:xfrm>
            <a:off x="7680960" y="292608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핵심 숫자 2"/>
          <p:cNvSpPr txBox="1"/>
          <p:nvPr/>
        </p:nvSpPr>
        <p:spPr>
          <a:xfrm>
            <a:off x="7955280" y="3108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45,500원</a:t>
            </a:r>
            <a:endParaRPr lang="en-US" sz="3200" dirty="0"/>
          </a:p>
        </p:txBody>
      </p:sp>
      <p:sp>
        <p:nvSpPr>
          <p:cNvPr id="10" name="핵심 숫자 설명 2"/>
          <p:cNvSpPr txBox="1"/>
          <p:nvPr/>
        </p:nvSpPr>
        <p:spPr>
          <a:xfrm>
            <a:off x="795528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제조원가 (공급가의 50.6%)</a:t>
            </a:r>
            <a:endParaRPr lang="en-US" sz="1400" dirty="0"/>
          </a:p>
        </p:txBody>
      </p:sp>
      <p:sp>
        <p:nvSpPr>
          <p:cNvPr id="11" name="핵심 숫자 카드 3"/>
          <p:cNvSpPr/>
          <p:nvPr/>
        </p:nvSpPr>
        <p:spPr>
          <a:xfrm>
            <a:off x="7680960" y="448056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2" name="핵심 숫자 3"/>
          <p:cNvSpPr txBox="1"/>
          <p:nvPr/>
        </p:nvSpPr>
        <p:spPr>
          <a:xfrm>
            <a:off x="7955280" y="4663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17,500원</a:t>
            </a:r>
            <a:endParaRPr lang="en-US" sz="3200" dirty="0"/>
          </a:p>
        </p:txBody>
      </p:sp>
      <p:sp>
        <p:nvSpPr>
          <p:cNvPr id="13" name="핵심 숫자 설명 3"/>
          <p:cNvSpPr txBox="1"/>
          <p:nvPr/>
        </p:nvSpPr>
        <p:spPr>
          <a:xfrm>
            <a:off x="795528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1대당 공헌이익 (19.4%)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원가의 핵심: 부품 8종</a:t>
            </a:r>
            <a:endParaRPr lang="en-US" sz="3000" dirty="0"/>
          </a:p>
        </p:txBody>
      </p:sp>
      <p:pic>
        <p:nvPicPr>
          <p:cNvPr id="4" name="차트 4" descr="재료비 차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669280" cy="4754880"/>
          </a:xfrm>
          <a:prstGeom prst="rect">
            <a:avLst/>
          </a:prstGeom>
        </p:spPr>
      </p:pic>
      <p:graphicFrame>
        <p:nvGraphicFramePr>
          <p:cNvPr id="14" name="부품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463040"/>
          <a:ext cx="51480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2161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부품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단가(원)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비중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베개 본체 (폼·커버)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20.6%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모터·링크 (서보)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17.6%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배터리·충전회로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14.7%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MCU·블루투스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4,500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13.2%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하우징·PCB·부자재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11.8%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포장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8.8%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실리콘 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2,500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센서 (압력·IMU)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원가 가정 카드"/>
          <p:cNvSpPr/>
          <p:nvPr/>
        </p:nvSpPr>
        <p:spPr>
          <a:xfrm>
            <a:off x="6492240" y="5074920"/>
            <a:ext cx="514807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원가 가정"/>
          <p:cNvSpPr txBox="1"/>
          <p:nvPr/>
        </p:nvSpPr>
        <p:spPr>
          <a:xfrm>
            <a:off x="6720840" y="50749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가정: 국내 설계, 국내·중국 OEM 조립, 초도 1만 대. 제조원가 1년차 45,500원 → 2년차 42,000원 → 3년차 39,500원.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1년차 매출 예상</a:t>
            </a:r>
            <a:endParaRPr lang="en-US" sz="3000" dirty="0"/>
          </a:p>
        </p:txBody>
      </p:sp>
      <p:pic>
        <p:nvPicPr>
          <p:cNvPr id="4" name="차트 5" descr="월별 판매 대수 (기본안, 합계 10,000대) 차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4297680"/>
          </a:xfrm>
          <a:prstGeom prst="rect">
            <a:avLst/>
          </a:prstGeom>
        </p:spPr>
      </p:pic>
      <p:sp>
        <p:nvSpPr>
          <p:cNvPr id="5" name="시나리오 카드 1"/>
          <p:cNvSpPr/>
          <p:nvPr/>
        </p:nvSpPr>
        <p:spPr>
          <a:xfrm>
            <a:off x="7680960" y="137160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시나리오 이름 1"/>
          <p:cNvSpPr txBox="1"/>
          <p:nvPr/>
        </p:nvSpPr>
        <p:spPr>
          <a:xfrm>
            <a:off x="795528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보수안 · 5,000대</a:t>
            </a:r>
            <a:endParaRPr lang="en-US" sz="1600" dirty="0"/>
          </a:p>
        </p:txBody>
      </p:sp>
      <p:sp>
        <p:nvSpPr>
          <p:cNvPr id="7" name="시나리오 매출 1"/>
          <p:cNvSpPr txBox="1"/>
          <p:nvPr/>
        </p:nvSpPr>
        <p:spPr>
          <a:xfrm>
            <a:off x="795528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매출 4.5억원</a:t>
            </a:r>
            <a:endParaRPr lang="en-US" sz="2000" dirty="0"/>
          </a:p>
        </p:txBody>
      </p:sp>
      <p:sp>
        <p:nvSpPr>
          <p:cNvPr id="8" name="시나리오 손익 1"/>
          <p:cNvSpPr txBox="1"/>
          <p:nvPr/>
        </p:nvSpPr>
        <p:spPr>
          <a:xfrm>
            <a:off x="795528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영업손익 약 -2.6억원</a:t>
            </a:r>
            <a:endParaRPr lang="en-US" sz="1400" dirty="0"/>
          </a:p>
        </p:txBody>
      </p:sp>
      <p:sp>
        <p:nvSpPr>
          <p:cNvPr id="9" name="시나리오 카드 2"/>
          <p:cNvSpPr/>
          <p:nvPr/>
        </p:nvSpPr>
        <p:spPr>
          <a:xfrm>
            <a:off x="7680960" y="288036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0" name="시나리오 이름 2"/>
          <p:cNvSpPr txBox="1"/>
          <p:nvPr/>
        </p:nvSpPr>
        <p:spPr>
          <a:xfrm>
            <a:off x="79552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기본안 · 10,000대</a:t>
            </a:r>
            <a:endParaRPr lang="en-US" sz="1600" dirty="0"/>
          </a:p>
        </p:txBody>
      </p:sp>
      <p:sp>
        <p:nvSpPr>
          <p:cNvPr id="11" name="시나리오 매출 2"/>
          <p:cNvSpPr txBox="1"/>
          <p:nvPr/>
        </p:nvSpPr>
        <p:spPr>
          <a:xfrm>
            <a:off x="7955280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매출 9.0억원</a:t>
            </a:r>
            <a:endParaRPr lang="en-US" sz="2000" dirty="0"/>
          </a:p>
        </p:txBody>
      </p:sp>
      <p:sp>
        <p:nvSpPr>
          <p:cNvPr id="12" name="시나리오 손익 2"/>
          <p:cNvSpPr txBox="1"/>
          <p:nvPr/>
        </p:nvSpPr>
        <p:spPr>
          <a:xfrm>
            <a:off x="795528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영업손익 약 -1.75억원</a:t>
            </a:r>
            <a:endParaRPr lang="en-US" sz="1400" dirty="0"/>
          </a:p>
        </p:txBody>
      </p:sp>
      <p:sp>
        <p:nvSpPr>
          <p:cNvPr id="13" name="시나리오 카드 3"/>
          <p:cNvSpPr/>
          <p:nvPr/>
        </p:nvSpPr>
        <p:spPr>
          <a:xfrm>
            <a:off x="7680960" y="438912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시나리오 이름 3"/>
          <p:cNvSpPr txBox="1"/>
          <p:nvPr/>
        </p:nvSpPr>
        <p:spPr>
          <a:xfrm>
            <a:off x="7955280" y="4526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낙관안 · 20,000대</a:t>
            </a:r>
            <a:endParaRPr lang="en-US" sz="1600" dirty="0"/>
          </a:p>
        </p:txBody>
      </p:sp>
      <p:sp>
        <p:nvSpPr>
          <p:cNvPr id="15" name="시나리오 매출 3"/>
          <p:cNvSpPr txBox="1"/>
          <p:nvPr/>
        </p:nvSpPr>
        <p:spPr>
          <a:xfrm>
            <a:off x="7955280" y="4892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매출 18억원</a:t>
            </a:r>
            <a:endParaRPr lang="en-US" sz="2000" dirty="0"/>
          </a:p>
        </p:txBody>
      </p:sp>
      <p:sp>
        <p:nvSpPr>
          <p:cNvPr id="16" name="시나리오 손익 3"/>
          <p:cNvSpPr txBox="1"/>
          <p:nvPr/>
        </p:nvSpPr>
        <p:spPr>
          <a:xfrm>
            <a:off x="7955280" y="5303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영업손익 약 0 (손익분기)</a:t>
            </a:r>
            <a:endParaRPr lang="en-US" sz="1400" dirty="0"/>
          </a:p>
        </p:txBody>
      </p:sp>
      <p:sp>
        <p:nvSpPr>
          <p:cNvPr id="17" name="1년차 각주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크라우드펀딩 선판매로 수요를 확인한 뒤 정식 판매를 늘려가는 경로를 가정했습니다. 손익분기 판매량은 1년차 비용 구조 기준 약 2만 대입니다.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3개년 매출·이익 전망</a:t>
            </a:r>
            <a:endParaRPr lang="en-US" sz="3000" dirty="0"/>
          </a:p>
        </p:txBody>
      </p:sp>
      <p:pic>
        <p:nvPicPr>
          <p:cNvPr id="4" name="차트 6" descr="매출액과 영업이익 (억원) 차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4572000"/>
          </a:xfrm>
          <a:prstGeom prst="rect">
            <a:avLst/>
          </a:prstGeom>
        </p:spPr>
      </p:pic>
      <p:sp>
        <p:nvSpPr>
          <p:cNvPr id="5" name="전망 카드 1"/>
          <p:cNvSpPr/>
          <p:nvPr/>
        </p:nvSpPr>
        <p:spPr>
          <a:xfrm>
            <a:off x="7680960" y="137160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6" name="전망 숫자 1"/>
          <p:cNvSpPr txBox="1"/>
          <p:nvPr/>
        </p:nvSpPr>
        <p:spPr>
          <a:xfrm>
            <a:off x="7955280" y="1554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54억원</a:t>
            </a:r>
            <a:endParaRPr lang="en-US" sz="3200" dirty="0"/>
          </a:p>
        </p:txBody>
      </p:sp>
      <p:sp>
        <p:nvSpPr>
          <p:cNvPr id="7" name="전망 설명 1"/>
          <p:cNvSpPr txBox="1"/>
          <p:nvPr/>
        </p:nvSpPr>
        <p:spPr>
          <a:xfrm>
            <a:off x="795528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3년차 매출 (6만 대)</a:t>
            </a:r>
            <a:endParaRPr lang="en-US" sz="1400" dirty="0"/>
          </a:p>
        </p:txBody>
      </p:sp>
      <p:sp>
        <p:nvSpPr>
          <p:cNvPr id="8" name="전망 카드 2"/>
          <p:cNvSpPr/>
          <p:nvPr/>
        </p:nvSpPr>
        <p:spPr>
          <a:xfrm>
            <a:off x="7680960" y="292608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전망 숫자 2"/>
          <p:cNvSpPr txBox="1"/>
          <p:nvPr/>
        </p:nvSpPr>
        <p:spPr>
          <a:xfrm>
            <a:off x="7955280" y="3108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2년차</a:t>
            </a:r>
            <a:endParaRPr lang="en-US" sz="3200" dirty="0"/>
          </a:p>
        </p:txBody>
      </p:sp>
      <p:sp>
        <p:nvSpPr>
          <p:cNvPr id="10" name="전망 설명 2"/>
          <p:cNvSpPr txBox="1"/>
          <p:nvPr/>
        </p:nvSpPr>
        <p:spPr>
          <a:xfrm>
            <a:off x="795528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영업이익 흑자 전환 (+1.14억원)</a:t>
            </a:r>
            <a:endParaRPr lang="en-US" sz="1400" dirty="0"/>
          </a:p>
        </p:txBody>
      </p:sp>
      <p:sp>
        <p:nvSpPr>
          <p:cNvPr id="11" name="전망 카드 3"/>
          <p:cNvSpPr/>
          <p:nvPr/>
        </p:nvSpPr>
        <p:spPr>
          <a:xfrm>
            <a:off x="7680960" y="4480560"/>
            <a:ext cx="39593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전망 숫자 3"/>
          <p:cNvSpPr txBox="1"/>
          <p:nvPr/>
        </p:nvSpPr>
        <p:spPr>
          <a:xfrm>
            <a:off x="7955280" y="4663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11.6%</a:t>
            </a:r>
            <a:endParaRPr lang="en-US" sz="3200" dirty="0"/>
          </a:p>
        </p:txBody>
      </p:sp>
      <p:sp>
        <p:nvSpPr>
          <p:cNvPr id="13" name="전망 설명 3"/>
          <p:cNvSpPr txBox="1"/>
          <p:nvPr/>
        </p:nvSpPr>
        <p:spPr>
          <a:xfrm>
            <a:off x="795528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3년차 영업이익률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3개년 손익 요약</a:t>
            </a:r>
            <a:endParaRPr lang="en-US" sz="3000" dirty="0"/>
          </a:p>
        </p:txBody>
      </p:sp>
      <p:graphicFrame>
        <p:nvGraphicFramePr>
          <p:cNvPr id="17" name="손익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112264"/>
                <a:gridCol w="2112264"/>
                <a:gridCol w="211226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1년차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2년차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3년차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판매 대수 (대)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60,000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매출액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9.00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27.00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54.00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제조원가 (재료·인건비·물류·인증)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4.55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12.60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23.70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판매비 (수수료·마케팅·반품)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2.70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14.04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공헌이익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1.75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6.84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16.26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고정비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영업이익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-1.75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1.14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6.26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영업이익률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-19.4%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4.2%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11.6%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고정비 구성 카드"/>
          <p:cNvSpPr/>
          <p:nvPr/>
        </p:nvSpPr>
        <p:spPr>
          <a:xfrm>
            <a:off x="548640" y="5074920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고정비 구성"/>
          <p:cNvSpPr txBox="1"/>
          <p:nvPr/>
        </p:nvSpPr>
        <p:spPr>
          <a:xfrm>
            <a:off x="777240" y="50749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1년차 고정비 3.5억원: 인건비 2.0억(5명) · 임차·운영 0.3억 · 금형·개발·인증 0.9억 · 기타 0.3억</a:t>
            </a:r>
            <a:endParaRPr lang="en-US" sz="1300" dirty="0"/>
          </a:p>
        </p:txBody>
      </p:sp>
      <p:sp>
        <p:nvSpPr>
          <p:cNvPr id="7" name="자금 카드"/>
          <p:cNvSpPr/>
          <p:nvPr/>
        </p:nvSpPr>
        <p:spPr>
          <a:xfrm>
            <a:off x="6199632" y="5074920"/>
            <a:ext cx="544068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자금 설명"/>
          <p:cNvSpPr txBox="1"/>
          <p:nvPr/>
        </p:nvSpPr>
        <p:spPr>
          <a:xfrm>
            <a:off x="6428232" y="5074920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초기 필요 자금 약 4~5억원(추정): 1년차 적자 1.75억원과 초도 재고 운전자금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민감도: 가격과 원가가 바꾸는 이익</a:t>
            </a:r>
            <a:endParaRPr lang="en-US" sz="3000" dirty="0"/>
          </a:p>
        </p:txBody>
      </p:sp>
      <p:sp>
        <p:nvSpPr>
          <p:cNvPr id="4" name="민감도 표1 제목"/>
          <p:cNvSpPr txBox="1"/>
          <p:nvPr/>
        </p:nvSpPr>
        <p:spPr>
          <a:xfrm>
            <a:off x="548640" y="1371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1년차 영업이익 (억원)</a:t>
            </a:r>
            <a:endParaRPr lang="en-US" sz="1600" dirty="0"/>
          </a:p>
        </p:txBody>
      </p:sp>
      <p:graphicFrame>
        <p:nvGraphicFramePr>
          <p:cNvPr id="18" name="가격 민감도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309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1280160"/>
                <a:gridCol w="128016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소비자가 \ 판매 대수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5,000대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10,000대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20,000대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89,000원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-3.01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-2.52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-1.55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99,000원 (기준)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-2.63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-1.75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+0.00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119,000원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-1.85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-0.20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+3.09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129,000원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-1.47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+0.57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+4.64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민감도 표2 제목"/>
          <p:cNvSpPr txBox="1"/>
          <p:nvPr/>
        </p:nvSpPr>
        <p:spPr>
          <a:xfrm>
            <a:off x="722376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원가 변수</a:t>
            </a:r>
            <a:endParaRPr lang="en-US" sz="1600" dirty="0"/>
          </a:p>
        </p:txBody>
      </p:sp>
      <p:graphicFrame>
        <p:nvGraphicFramePr>
          <p:cNvPr id="35" name="원가 민감도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828800"/>
          <a:ext cx="44165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07592"/>
                <a:gridCol w="1097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변수 (99,000원, 1만 대)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공헌이익/대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영업이익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재료비 -20%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24,300원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-1.07억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기준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17,500원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-1.75억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재료비 +20%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10,700원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-2.43억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재료비 +50%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500원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-3.45억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마케팅비 -30%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21,550원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-1.35억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마케팅비 +30%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13,450원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-2.16억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민감도 해석 카드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민감도 해석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해석: 같은 1만 대라도 가격을 11.9만원으로 올리면 영업손익이 -1.75억에서 -0.20억으로 개선됩니다. 스마트 베개($199~299)와 비교해 가격 인상 여지가 있으므로, 크라우드펀딩에서 9.9만원·11.9만원을 함께 시험하는 것을 권합니다. 서보 모터는 소량 소매가가 $11~14라 대량 견적 전에는 재료비 +50%까지 대비해야 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3부. 수익의 몇 %를 사회에 환원할까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제품 기부, 후원금, 재능기부, 봉사를 포함한 환원 비율 제안</a:t>
            </a:r>
            <a:endParaRPr lang="en-US" sz="2000" dirty="0"/>
          </a:p>
        </p:txBody>
      </p:sp>
      <p:sp>
        <p:nvSpPr>
          <p:cNvPr id="4" name="섹션 번호"/>
          <p:cNvSpPr txBox="1"/>
          <p:nvPr/>
        </p:nvSpPr>
        <p:spPr>
          <a:xfrm>
            <a:off x="731520" y="14630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03</a:t>
            </a:r>
            <a:endParaRPr lang="en-US" sz="8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기부는 얼마가 적당한가</a:t>
            </a:r>
            <a:endParaRPr lang="en-US" sz="3000" dirty="0"/>
          </a:p>
        </p:txBody>
      </p:sp>
      <p:pic>
        <p:nvPicPr>
          <p:cNvPr id="4" name="차트 7" descr="매출 대비 기부 비율 차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669280" cy="4572000"/>
          </a:xfrm>
          <a:prstGeom prst="rect">
            <a:avLst/>
          </a:prstGeom>
        </p:spPr>
      </p:pic>
      <p:sp>
        <p:nvSpPr>
          <p:cNvPr id="5" name="벤치마크 카드 1"/>
          <p:cNvSpPr/>
          <p:nvPr/>
        </p:nvSpPr>
        <p:spPr>
          <a:xfrm>
            <a:off x="6492240" y="1371600"/>
            <a:ext cx="51480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벤치마크 1 원"/>
          <p:cNvSpPr/>
          <p:nvPr/>
        </p:nvSpPr>
        <p:spPr>
          <a:xfrm>
            <a:off x="6675120" y="1737360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7" name="벤치마크 1 아이콘" descr="벤치마크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1897380"/>
            <a:ext cx="320040" cy="320040"/>
          </a:xfrm>
          <a:prstGeom prst="rect">
            <a:avLst/>
          </a:prstGeom>
        </p:spPr>
      </p:pic>
      <p:sp>
        <p:nvSpPr>
          <p:cNvPr id="8" name="벤치마크 제목 1"/>
          <p:cNvSpPr txBox="1"/>
          <p:nvPr/>
        </p:nvSpPr>
        <p:spPr>
          <a:xfrm>
            <a:off x="7498080" y="14813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국내 평균</a:t>
            </a:r>
            <a:endParaRPr lang="en-US" sz="1500" dirty="0"/>
          </a:p>
        </p:txBody>
      </p:sp>
      <p:sp>
        <p:nvSpPr>
          <p:cNvPr id="9" name="벤치마크 설명 1"/>
          <p:cNvSpPr txBox="1"/>
          <p:nvPr/>
        </p:nvSpPr>
        <p:spPr>
          <a:xfrm>
            <a:off x="7498080" y="182880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매출 대비 약 0.1~0.2% (2023년 100대 기업 0.12%, 소비재 업종 0.52%). 세전이익 대비 3~4%는 2009~2015년 자료</a:t>
            </a:r>
            <a:endParaRPr lang="en-US" sz="1200" dirty="0"/>
          </a:p>
        </p:txBody>
      </p:sp>
      <p:sp>
        <p:nvSpPr>
          <p:cNvPr id="10" name="벤치마크 카드 2"/>
          <p:cNvSpPr/>
          <p:nvPr/>
        </p:nvSpPr>
        <p:spPr>
          <a:xfrm>
            <a:off x="6492240" y="2926080"/>
            <a:ext cx="51480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벤치마크 2 원"/>
          <p:cNvSpPr/>
          <p:nvPr/>
        </p:nvSpPr>
        <p:spPr>
          <a:xfrm>
            <a:off x="6675120" y="3291840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12" name="벤치마크 2 아이콘" descr="벤치마크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3451860"/>
            <a:ext cx="320040" cy="320040"/>
          </a:xfrm>
          <a:prstGeom prst="rect">
            <a:avLst/>
          </a:prstGeom>
        </p:spPr>
      </p:pic>
      <p:sp>
        <p:nvSpPr>
          <p:cNvPr id="13" name="벤치마크 제목 2"/>
          <p:cNvSpPr txBox="1"/>
          <p:nvPr/>
        </p:nvSpPr>
        <p:spPr>
          <a:xfrm>
            <a:off x="7498080" y="303580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해외 사례</a:t>
            </a:r>
            <a:endParaRPr lang="en-US" sz="1500" dirty="0"/>
          </a:p>
        </p:txBody>
      </p:sp>
      <p:sp>
        <p:nvSpPr>
          <p:cNvPr id="14" name="벤치마크 설명 2"/>
          <p:cNvSpPr txBox="1"/>
          <p:nvPr/>
        </p:nvSpPr>
        <p:spPr>
          <a:xfrm>
            <a:off x="7498080" y="338328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Patagonia는 매출의 1%를 환경단체에 기부, 같은 약속을 하는 기업 연합 “1% for the Planet”</a:t>
            </a:r>
            <a:endParaRPr lang="en-US" sz="1200" dirty="0"/>
          </a:p>
        </p:txBody>
      </p:sp>
      <p:sp>
        <p:nvSpPr>
          <p:cNvPr id="15" name="벤치마크 카드 3"/>
          <p:cNvSpPr/>
          <p:nvPr/>
        </p:nvSpPr>
        <p:spPr>
          <a:xfrm>
            <a:off x="6492240" y="4480560"/>
            <a:ext cx="514807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벤치마크 3 원"/>
          <p:cNvSpPr/>
          <p:nvPr/>
        </p:nvSpPr>
        <p:spPr>
          <a:xfrm>
            <a:off x="6675120" y="4846320"/>
            <a:ext cx="640080" cy="640080"/>
          </a:xfrm>
          <a:prstGeom prst="ellipse">
            <a:avLst/>
          </a:prstGeom>
          <a:solidFill>
            <a:srgbClr val="5B6ABF"/>
          </a:solidFill>
          <a:ln w="6350">
            <a:solidFill>
              <a:srgbClr val="5B6ABF"/>
            </a:solidFill>
            <a:prstDash val="solid"/>
          </a:ln>
        </p:spPr>
      </p:sp>
      <p:pic>
        <p:nvPicPr>
          <p:cNvPr id="17" name="벤치마크 3 아이콘" descr="벤치마크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5006340"/>
            <a:ext cx="320040" cy="320040"/>
          </a:xfrm>
          <a:prstGeom prst="rect">
            <a:avLst/>
          </a:prstGeom>
        </p:spPr>
      </p:pic>
      <p:sp>
        <p:nvSpPr>
          <p:cNvPr id="18" name="벤치마크 제목 3"/>
          <p:cNvSpPr txBox="1"/>
          <p:nvPr/>
        </p:nvSpPr>
        <p:spPr>
          <a:xfrm>
            <a:off x="7498080" y="45902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세법</a:t>
            </a:r>
            <a:endParaRPr lang="en-US" sz="1500" dirty="0"/>
          </a:p>
        </p:txBody>
      </p:sp>
      <p:sp>
        <p:nvSpPr>
          <p:cNvPr id="19" name="벤치마크 설명 3"/>
          <p:cNvSpPr txBox="1"/>
          <p:nvPr/>
        </p:nvSpPr>
        <p:spPr>
          <a:xfrm>
            <a:off x="7498080" y="49377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일반기부금은 소득금액의 10% 한도로 비용 인정, 초과분은 10년 이월. 현물은 장부가 평가 (2차 자료, 세무사 확인 필요)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제안: 매출의 0.5% 환원</a:t>
            </a:r>
            <a:endParaRPr lang="en-US" sz="3000" dirty="0"/>
          </a:p>
        </p:txBody>
      </p:sp>
      <p:sp>
        <p:nvSpPr>
          <p:cNvPr id="4" name="제안 카드"/>
          <p:cNvSpPr/>
          <p:nvPr/>
        </p:nvSpPr>
        <p:spPr>
          <a:xfrm>
            <a:off x="548640" y="1371600"/>
            <a:ext cx="4206240" cy="457200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제안 앞글"/>
          <p:cNvSpPr txBox="1"/>
          <p:nvPr/>
        </p:nvSpPr>
        <p:spPr>
          <a:xfrm>
            <a:off x="86868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매출의</a:t>
            </a:r>
            <a:endParaRPr lang="en-US" sz="2000" dirty="0"/>
          </a:p>
        </p:txBody>
      </p:sp>
      <p:sp>
        <p:nvSpPr>
          <p:cNvPr id="6" name="제안 숫자"/>
          <p:cNvSpPr txBox="1"/>
          <p:nvPr/>
        </p:nvSpPr>
        <p:spPr>
          <a:xfrm>
            <a:off x="868680" y="219456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0.5%</a:t>
            </a:r>
            <a:endParaRPr lang="en-US" sz="8000" dirty="0"/>
          </a:p>
        </p:txBody>
      </p:sp>
      <p:sp>
        <p:nvSpPr>
          <p:cNvPr id="7" name="제안 상향 조건"/>
          <p:cNvSpPr txBox="1"/>
          <p:nvPr/>
        </p:nvSpPr>
        <p:spPr>
          <a:xfrm>
            <a:off x="868680" y="3840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영업이익률이 10% 이상으로 유지되면 1%로 상향합니다.</a:t>
            </a:r>
            <a:endParaRPr lang="en-US" sz="1600" dirty="0"/>
          </a:p>
        </p:txBody>
      </p:sp>
      <p:sp>
        <p:nvSpPr>
          <p:cNvPr id="8" name="제안 이익 대비"/>
          <p:cNvSpPr txBox="1"/>
          <p:nvPr/>
        </p:nvSpPr>
        <p:spPr>
          <a:xfrm>
            <a:off x="868680" y="5029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3년차 기준 영업이익의 약 4.3%</a:t>
            </a:r>
            <a:endParaRPr lang="en-US" sz="1400" dirty="0"/>
          </a:p>
        </p:txBody>
      </p:sp>
      <p:sp>
        <p:nvSpPr>
          <p:cNvPr id="9" name="이유 카드 1"/>
          <p:cNvSpPr/>
          <p:nvPr/>
        </p:nvSpPr>
        <p:spPr>
          <a:xfrm>
            <a:off x="5029200" y="1371600"/>
            <a:ext cx="661111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이유 1 원"/>
          <p:cNvSpPr/>
          <p:nvPr/>
        </p:nvSpPr>
        <p:spPr>
          <a:xfrm>
            <a:off x="5257800" y="1737360"/>
            <a:ext cx="640080" cy="640080"/>
          </a:xfrm>
          <a:prstGeom prst="ellipse">
            <a:avLst/>
          </a:prstGeom>
          <a:solidFill>
            <a:srgbClr val="F4A259"/>
          </a:solidFill>
          <a:ln w="6350">
            <a:solidFill>
              <a:srgbClr val="F4A259"/>
            </a:solidFill>
            <a:prstDash val="solid"/>
          </a:ln>
        </p:spPr>
      </p:sp>
      <p:pic>
        <p:nvPicPr>
          <p:cNvPr id="11" name="이유 1 아이콘" descr="이유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820" y="1897380"/>
            <a:ext cx="320040" cy="320040"/>
          </a:xfrm>
          <a:prstGeom prst="rect">
            <a:avLst/>
          </a:prstGeom>
        </p:spPr>
      </p:pic>
      <p:sp>
        <p:nvSpPr>
          <p:cNvPr id="12" name="이유 제목 1"/>
          <p:cNvSpPr txBox="1"/>
          <p:nvPr/>
        </p:nvSpPr>
        <p:spPr>
          <a:xfrm>
            <a:off x="6172200" y="150876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신뢰를 사는 수준</a:t>
            </a:r>
            <a:endParaRPr lang="en-US" sz="1600" dirty="0"/>
          </a:p>
        </p:txBody>
      </p:sp>
      <p:sp>
        <p:nvSpPr>
          <p:cNvPr id="13" name="이유 설명 1"/>
          <p:cNvSpPr txBox="1"/>
          <p:nvPr/>
        </p:nvSpPr>
        <p:spPr>
          <a:xfrm>
            <a:off x="6172200" y="192024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국내 대기업 평균(0.1~0.2%)의 2.5배 이상이고 소비재 업종 평균(0.52%)과 비슷해 브랜드 약속으로 의미가 있습니다.</a:t>
            </a:r>
            <a:endParaRPr lang="en-US" sz="1400" dirty="0"/>
          </a:p>
        </p:txBody>
      </p:sp>
      <p:sp>
        <p:nvSpPr>
          <p:cNvPr id="14" name="이유 카드 2"/>
          <p:cNvSpPr/>
          <p:nvPr/>
        </p:nvSpPr>
        <p:spPr>
          <a:xfrm>
            <a:off x="5029200" y="2926080"/>
            <a:ext cx="661111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이유 2 원"/>
          <p:cNvSpPr/>
          <p:nvPr/>
        </p:nvSpPr>
        <p:spPr>
          <a:xfrm>
            <a:off x="5257800" y="3291840"/>
            <a:ext cx="640080" cy="640080"/>
          </a:xfrm>
          <a:prstGeom prst="ellipse">
            <a:avLst/>
          </a:prstGeom>
          <a:solidFill>
            <a:srgbClr val="F4A259"/>
          </a:solidFill>
          <a:ln w="6350">
            <a:solidFill>
              <a:srgbClr val="F4A259"/>
            </a:solidFill>
            <a:prstDash val="solid"/>
          </a:ln>
        </p:spPr>
      </p:sp>
      <p:pic>
        <p:nvPicPr>
          <p:cNvPr id="16" name="이유 2 아이콘" descr="이유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3451860"/>
            <a:ext cx="320040" cy="320040"/>
          </a:xfrm>
          <a:prstGeom prst="rect">
            <a:avLst/>
          </a:prstGeom>
        </p:spPr>
      </p:pic>
      <p:sp>
        <p:nvSpPr>
          <p:cNvPr id="17" name="이유 제목 2"/>
          <p:cNvSpPr txBox="1"/>
          <p:nvPr/>
        </p:nvSpPr>
        <p:spPr>
          <a:xfrm>
            <a:off x="6172200" y="30632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이익에 과하지 않다</a:t>
            </a:r>
            <a:endParaRPr lang="en-US" sz="1600" dirty="0"/>
          </a:p>
        </p:txBody>
      </p:sp>
      <p:sp>
        <p:nvSpPr>
          <p:cNvPr id="18" name="이유 설명 2"/>
          <p:cNvSpPr txBox="1"/>
          <p:nvPr/>
        </p:nvSpPr>
        <p:spPr>
          <a:xfrm>
            <a:off x="6172200" y="347472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3년차 영업이익의 약 4.3%로 국내 평균(세전이익의 3~4%, 구 조사)과 비슷합니다.</a:t>
            </a:r>
            <a:endParaRPr lang="en-US" sz="1400" dirty="0"/>
          </a:p>
        </p:txBody>
      </p:sp>
      <p:sp>
        <p:nvSpPr>
          <p:cNvPr id="19" name="이유 카드 3"/>
          <p:cNvSpPr/>
          <p:nvPr/>
        </p:nvSpPr>
        <p:spPr>
          <a:xfrm>
            <a:off x="5029200" y="4480560"/>
            <a:ext cx="661111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이유 3 원"/>
          <p:cNvSpPr/>
          <p:nvPr/>
        </p:nvSpPr>
        <p:spPr>
          <a:xfrm>
            <a:off x="5257800" y="4846320"/>
            <a:ext cx="640080" cy="640080"/>
          </a:xfrm>
          <a:prstGeom prst="ellipse">
            <a:avLst/>
          </a:prstGeom>
          <a:solidFill>
            <a:srgbClr val="F4A259"/>
          </a:solidFill>
          <a:ln w="6350">
            <a:solidFill>
              <a:srgbClr val="F4A259"/>
            </a:solidFill>
            <a:prstDash val="solid"/>
          </a:ln>
        </p:spPr>
      </p:sp>
      <p:pic>
        <p:nvPicPr>
          <p:cNvPr id="21" name="이유 3 아이콘" descr="이유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5006340"/>
            <a:ext cx="320040" cy="320040"/>
          </a:xfrm>
          <a:prstGeom prst="rect">
            <a:avLst/>
          </a:prstGeom>
        </p:spPr>
      </p:pic>
      <p:sp>
        <p:nvSpPr>
          <p:cNvPr id="22" name="이유 제목 3"/>
          <p:cNvSpPr txBox="1"/>
          <p:nvPr/>
        </p:nvSpPr>
        <p:spPr>
          <a:xfrm>
            <a:off x="6172200" y="461772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현금 부담이 작다</a:t>
            </a:r>
            <a:endParaRPr lang="en-US" sz="1600" dirty="0"/>
          </a:p>
        </p:txBody>
      </p:sp>
      <p:sp>
        <p:nvSpPr>
          <p:cNvPr id="23" name="이유 설명 3"/>
          <p:cNvSpPr txBox="1"/>
          <p:nvPr/>
        </p:nvSpPr>
        <p:spPr>
          <a:xfrm>
            <a:off x="6172200" y="502920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70%가 제품·재능·봉사라 적자인 1년차에도 약속을 지킬 수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환원 방식과 연도별 금액</a:t>
            </a:r>
            <a:endParaRPr lang="en-US" sz="3000" dirty="0"/>
          </a:p>
        </p:txBody>
      </p:sp>
      <p:pic>
        <p:nvPicPr>
          <p:cNvPr id="4" name="차트 8" descr="환원 구성 차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023360" cy="3931920"/>
          </a:xfrm>
          <a:prstGeom prst="rect">
            <a:avLst/>
          </a:prstGeom>
        </p:spPr>
      </p:pic>
      <p:graphicFrame>
        <p:nvGraphicFramePr>
          <p:cNvPr id="22" name="환원 금액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63040"/>
          <a:ext cx="6793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77240"/>
                <a:gridCol w="777240"/>
                <a:gridCol w="868680"/>
                <a:gridCol w="27249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1년차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2년차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3년차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활동 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제품 기부 40%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180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1,080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수면 취약계층·청소년 시설에 제품 전달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후원금 30%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수면 건강 단체 정기 후원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재능기부 15%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엔지니어링 교육·메이커 멘토링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봉사 15%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임직원 봉사의 날 운영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합계 (만원)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1,350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2,700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매출의 0.5%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환원 각주 카드"/>
          <p:cNvSpPr/>
          <p:nvPr/>
        </p:nvSpPr>
        <p:spPr>
          <a:xfrm>
            <a:off x="548640" y="5486400"/>
            <a:ext cx="11091672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환원 각주"/>
          <p:cNvSpPr txBox="1"/>
          <p:nvPr/>
        </p:nvSpPr>
        <p:spPr>
          <a:xfrm>
            <a:off x="777240" y="548640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금액 단위는 만원이며 반올림했습니다. 제품 기부는 1·2·3년차 각각 약 40대·130대·270대(제조원가 환산). 재능기부와 봉사는 임직원 근무시간 환산액입니다.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출시 전에 풀어야 할 리스크</a:t>
            </a:r>
            <a:endParaRPr lang="en-US" sz="3000" dirty="0"/>
          </a:p>
        </p:txBody>
      </p:sp>
      <p:sp>
        <p:nvSpPr>
          <p:cNvPr id="4" name="리스크 카드 1"/>
          <p:cNvSpPr/>
          <p:nvPr/>
        </p:nvSpPr>
        <p:spPr>
          <a:xfrm>
            <a:off x="548640" y="13716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리스크 1 원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rgbClr val="E76F51"/>
          </a:solidFill>
          <a:ln w="6350">
            <a:solidFill>
              <a:srgbClr val="E76F51"/>
            </a:solidFill>
            <a:prstDash val="solid"/>
          </a:ln>
        </p:spPr>
      </p:sp>
      <p:pic>
        <p:nvPicPr>
          <p:cNvPr id="6" name="리스크 1 아이콘" descr="리스크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794510"/>
            <a:ext cx="297180" cy="297180"/>
          </a:xfrm>
          <a:prstGeom prst="rect">
            <a:avLst/>
          </a:prstGeom>
        </p:spPr>
      </p:pic>
      <p:sp>
        <p:nvSpPr>
          <p:cNvPr id="7" name="리스크 제목 1"/>
          <p:cNvSpPr txBox="1"/>
          <p:nvPr/>
        </p:nvSpPr>
        <p:spPr>
          <a:xfrm>
            <a:off x="1600200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안전</a:t>
            </a:r>
            <a:endParaRPr lang="en-US" sz="1800" dirty="0"/>
          </a:p>
        </p:txBody>
      </p:sp>
      <p:sp>
        <p:nvSpPr>
          <p:cNvPr id="8" name="리스크 설명 1"/>
          <p:cNvSpPr txBox="1"/>
          <p:nvPr/>
        </p:nvSpPr>
        <p:spPr>
          <a:xfrm>
            <a:off x="822960" y="2423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수면 중 접촉으로 어린이·고령자가 다칠 수 있습니다. 힘 제한, 정지 센서, PL 보험(지자체 보험료 지원 10~30%)을 갖춥니다.</a:t>
            </a:r>
            <a:endParaRPr lang="en-US" sz="1300" dirty="0"/>
          </a:p>
        </p:txBody>
      </p:sp>
      <p:sp>
        <p:nvSpPr>
          <p:cNvPr id="9" name="리스크 카드 2"/>
          <p:cNvSpPr/>
          <p:nvPr/>
        </p:nvSpPr>
        <p:spPr>
          <a:xfrm>
            <a:off x="4311396" y="13716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리스크 2 원"/>
          <p:cNvSpPr/>
          <p:nvPr/>
        </p:nvSpPr>
        <p:spPr>
          <a:xfrm>
            <a:off x="4585716" y="1645920"/>
            <a:ext cx="594360" cy="594360"/>
          </a:xfrm>
          <a:prstGeom prst="ellipse">
            <a:avLst/>
          </a:prstGeom>
          <a:solidFill>
            <a:srgbClr val="E76F51"/>
          </a:solidFill>
          <a:ln w="6350">
            <a:solidFill>
              <a:srgbClr val="E76F51"/>
            </a:solidFill>
            <a:prstDash val="solid"/>
          </a:ln>
        </p:spPr>
      </p:sp>
      <p:pic>
        <p:nvPicPr>
          <p:cNvPr id="11" name="리스크 2 아이콘" descr="리스크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306" y="1794510"/>
            <a:ext cx="297180" cy="297180"/>
          </a:xfrm>
          <a:prstGeom prst="rect">
            <a:avLst/>
          </a:prstGeom>
        </p:spPr>
      </p:pic>
      <p:sp>
        <p:nvSpPr>
          <p:cNvPr id="12" name="리스크 제목 2"/>
          <p:cNvSpPr txBox="1"/>
          <p:nvPr/>
        </p:nvSpPr>
        <p:spPr>
          <a:xfrm>
            <a:off x="5362956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인증</a:t>
            </a:r>
            <a:endParaRPr lang="en-US" sz="1800" dirty="0"/>
          </a:p>
        </p:txBody>
      </p:sp>
      <p:sp>
        <p:nvSpPr>
          <p:cNvPr id="13" name="리스크 설명 2"/>
          <p:cNvSpPr txBox="1"/>
          <p:nvPr/>
        </p:nvSpPr>
        <p:spPr>
          <a:xfrm>
            <a:off x="4585716" y="2423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내장 배터리는 KC 전기안전확인 대상입니다. 업체 추정 약 700~1,500만원, 4~12주. 전파인증은 별도 견적이 필요합니다.</a:t>
            </a:r>
            <a:endParaRPr lang="en-US" sz="1300" dirty="0"/>
          </a:p>
        </p:txBody>
      </p:sp>
      <p:sp>
        <p:nvSpPr>
          <p:cNvPr id="14" name="리스크 카드 3"/>
          <p:cNvSpPr/>
          <p:nvPr/>
        </p:nvSpPr>
        <p:spPr>
          <a:xfrm>
            <a:off x="8074152" y="13716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리스크 3 원"/>
          <p:cNvSpPr/>
          <p:nvPr/>
        </p:nvSpPr>
        <p:spPr>
          <a:xfrm>
            <a:off x="8348472" y="1645920"/>
            <a:ext cx="594360" cy="594360"/>
          </a:xfrm>
          <a:prstGeom prst="ellipse">
            <a:avLst/>
          </a:prstGeom>
          <a:solidFill>
            <a:srgbClr val="E76F51"/>
          </a:solidFill>
          <a:ln w="6350">
            <a:solidFill>
              <a:srgbClr val="E76F51"/>
            </a:solidFill>
            <a:prstDash val="solid"/>
          </a:ln>
        </p:spPr>
      </p:sp>
      <p:pic>
        <p:nvPicPr>
          <p:cNvPr id="16" name="리스크 3 아이콘" descr="리스크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062" y="1794510"/>
            <a:ext cx="297180" cy="297180"/>
          </a:xfrm>
          <a:prstGeom prst="rect">
            <a:avLst/>
          </a:prstGeom>
        </p:spPr>
      </p:pic>
      <p:sp>
        <p:nvSpPr>
          <p:cNvPr id="17" name="리스크 제목 3"/>
          <p:cNvSpPr txBox="1"/>
          <p:nvPr/>
        </p:nvSpPr>
        <p:spPr>
          <a:xfrm>
            <a:off x="9125712" y="1737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특허</a:t>
            </a:r>
            <a:endParaRPr lang="en-US" sz="1800" dirty="0"/>
          </a:p>
        </p:txBody>
      </p:sp>
      <p:sp>
        <p:nvSpPr>
          <p:cNvPr id="18" name="리스크 설명 3"/>
          <p:cNvSpPr txBox="1"/>
          <p:nvPr/>
        </p:nvSpPr>
        <p:spPr>
          <a:xfrm>
            <a:off x="8348472" y="24231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유사 특허·디자인 침해 여부를 변리사 선행기술 조사로 확인하고, 자체 출원도 준비합니다.</a:t>
            </a:r>
            <a:endParaRPr lang="en-US" sz="1300" dirty="0"/>
          </a:p>
        </p:txBody>
      </p:sp>
      <p:sp>
        <p:nvSpPr>
          <p:cNvPr id="19" name="리스크 카드 4"/>
          <p:cNvSpPr/>
          <p:nvPr/>
        </p:nvSpPr>
        <p:spPr>
          <a:xfrm>
            <a:off x="548640" y="384048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리스크 4 원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E76F51"/>
          </a:solidFill>
          <a:ln w="6350">
            <a:solidFill>
              <a:srgbClr val="E76F51"/>
            </a:solidFill>
            <a:prstDash val="solid"/>
          </a:ln>
        </p:spPr>
      </p:sp>
      <p:pic>
        <p:nvPicPr>
          <p:cNvPr id="21" name="리스크 4 아이콘" descr="리스크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263390"/>
            <a:ext cx="297180" cy="297180"/>
          </a:xfrm>
          <a:prstGeom prst="rect">
            <a:avLst/>
          </a:prstGeom>
        </p:spPr>
      </p:pic>
      <p:sp>
        <p:nvSpPr>
          <p:cNvPr id="22" name="리스크 제목 4"/>
          <p:cNvSpPr txBox="1"/>
          <p:nvPr/>
        </p:nvSpPr>
        <p:spPr>
          <a:xfrm>
            <a:off x="1600200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수요</a:t>
            </a:r>
            <a:endParaRPr lang="en-US" sz="1800" dirty="0"/>
          </a:p>
        </p:txBody>
      </p:sp>
      <p:sp>
        <p:nvSpPr>
          <p:cNvPr id="23" name="리스크 설명 4"/>
          <p:cNvSpPr txBox="1"/>
          <p:nvPr/>
        </p:nvSpPr>
        <p:spPr>
          <a:xfrm>
            <a:off x="822960" y="4892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9.9만원 지불 의사는 검증되지 않았습니다. 설문과 사전예약 전환율로 먼저 확인합니다.</a:t>
            </a:r>
            <a:endParaRPr lang="en-US" sz="1300" dirty="0"/>
          </a:p>
        </p:txBody>
      </p:sp>
      <p:sp>
        <p:nvSpPr>
          <p:cNvPr id="24" name="리스크 카드 5"/>
          <p:cNvSpPr/>
          <p:nvPr/>
        </p:nvSpPr>
        <p:spPr>
          <a:xfrm>
            <a:off x="4311396" y="384048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리스크 5 원"/>
          <p:cNvSpPr/>
          <p:nvPr/>
        </p:nvSpPr>
        <p:spPr>
          <a:xfrm>
            <a:off x="4585716" y="4114800"/>
            <a:ext cx="594360" cy="594360"/>
          </a:xfrm>
          <a:prstGeom prst="ellipse">
            <a:avLst/>
          </a:prstGeom>
          <a:solidFill>
            <a:srgbClr val="E76F51"/>
          </a:solidFill>
          <a:ln w="6350">
            <a:solidFill>
              <a:srgbClr val="E76F51"/>
            </a:solidFill>
            <a:prstDash val="solid"/>
          </a:ln>
        </p:spPr>
      </p:sp>
      <p:pic>
        <p:nvPicPr>
          <p:cNvPr id="26" name="리스크 5 아이콘" descr="리스크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306" y="4263390"/>
            <a:ext cx="297180" cy="297180"/>
          </a:xfrm>
          <a:prstGeom prst="rect">
            <a:avLst/>
          </a:prstGeom>
        </p:spPr>
      </p:pic>
      <p:sp>
        <p:nvSpPr>
          <p:cNvPr id="27" name="리스크 제목 5"/>
          <p:cNvSpPr txBox="1"/>
          <p:nvPr/>
        </p:nvSpPr>
        <p:spPr>
          <a:xfrm>
            <a:off x="5362956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공급</a:t>
            </a:r>
            <a:endParaRPr lang="en-US" sz="1800" dirty="0"/>
          </a:p>
        </p:txBody>
      </p:sp>
      <p:sp>
        <p:nvSpPr>
          <p:cNvPr id="28" name="리스크 설명 5"/>
          <p:cNvSpPr txBox="1"/>
          <p:nvPr/>
        </p:nvSpPr>
        <p:spPr>
          <a:xfrm>
            <a:off x="4585716" y="4892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금형비, OEM 최소주문량, 모터의 반복 동작 수명을 시제품 단계에서 시험합니다.</a:t>
            </a:r>
            <a:endParaRPr lang="en-US" sz="1300" dirty="0"/>
          </a:p>
        </p:txBody>
      </p:sp>
      <p:sp>
        <p:nvSpPr>
          <p:cNvPr id="29" name="리스크 카드 6"/>
          <p:cNvSpPr/>
          <p:nvPr/>
        </p:nvSpPr>
        <p:spPr>
          <a:xfrm>
            <a:off x="8074152" y="384048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0" name="리스크 6 원"/>
          <p:cNvSpPr/>
          <p:nvPr/>
        </p:nvSpPr>
        <p:spPr>
          <a:xfrm>
            <a:off x="8348472" y="4114800"/>
            <a:ext cx="594360" cy="594360"/>
          </a:xfrm>
          <a:prstGeom prst="ellipse">
            <a:avLst/>
          </a:prstGeom>
          <a:solidFill>
            <a:srgbClr val="E76F51"/>
          </a:solidFill>
          <a:ln w="6350">
            <a:solidFill>
              <a:srgbClr val="E76F51"/>
            </a:solidFill>
            <a:prstDash val="solid"/>
          </a:ln>
        </p:spPr>
      </p:sp>
      <p:pic>
        <p:nvPicPr>
          <p:cNvPr id="31" name="리스크 6 아이콘" descr="리스크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7062" y="4263390"/>
            <a:ext cx="297180" cy="297180"/>
          </a:xfrm>
          <a:prstGeom prst="rect">
            <a:avLst/>
          </a:prstGeom>
        </p:spPr>
      </p:pic>
      <p:sp>
        <p:nvSpPr>
          <p:cNvPr id="32" name="리스크 제목 6"/>
          <p:cNvSpPr txBox="1"/>
          <p:nvPr/>
        </p:nvSpPr>
        <p:spPr>
          <a:xfrm>
            <a:off x="9125712" y="4206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자금</a:t>
            </a:r>
            <a:endParaRPr lang="en-US" sz="1800" dirty="0"/>
          </a:p>
        </p:txBody>
      </p:sp>
      <p:sp>
        <p:nvSpPr>
          <p:cNvPr id="33" name="리스크 설명 6"/>
          <p:cNvSpPr txBox="1"/>
          <p:nvPr/>
        </p:nvSpPr>
        <p:spPr>
          <a:xfrm>
            <a:off x="8348472" y="48920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초기 약 4~5억원이 필요합니다. 선판매 입금과 재고 운전자금을 분리해 관리합니다.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실행 로드맵과 다음 단계</a:t>
            </a:r>
            <a:endParaRPr lang="en-US" sz="3000" dirty="0"/>
          </a:p>
        </p:txBody>
      </p:sp>
      <p:sp>
        <p:nvSpPr>
          <p:cNvPr id="4" name="로드맵 카드 1"/>
          <p:cNvSpPr/>
          <p:nvPr/>
        </p:nvSpPr>
        <p:spPr>
          <a:xfrm>
            <a:off x="548640" y="146304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로드맵 번호 원 1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로드맵 번호 1"/>
          <p:cNvSpPr txBox="1"/>
          <p:nvPr/>
        </p:nvSpPr>
        <p:spPr>
          <a:xfrm>
            <a:off x="8229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로드맵 기간 1"/>
          <p:cNvSpPr txBox="1"/>
          <p:nvPr/>
        </p:nvSpPr>
        <p:spPr>
          <a:xfrm>
            <a:off x="8229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0~3개월</a:t>
            </a:r>
            <a:endParaRPr lang="en-US" sz="2000" dirty="0"/>
          </a:p>
        </p:txBody>
      </p:sp>
      <p:sp>
        <p:nvSpPr>
          <p:cNvPr id="8" name="로드맵 이름 1"/>
          <p:cNvSpPr txBox="1"/>
          <p:nvPr/>
        </p:nvSpPr>
        <p:spPr>
          <a:xfrm>
            <a:off x="82296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제품 개발</a:t>
            </a:r>
            <a:endParaRPr lang="en-US" sz="1500" dirty="0"/>
          </a:p>
        </p:txBody>
      </p:sp>
      <p:sp>
        <p:nvSpPr>
          <p:cNvPr id="9" name="로드맵 항목 1"/>
          <p:cNvSpPr txBox="1"/>
          <p:nvPr/>
        </p:nvSpPr>
        <p:spPr>
          <a:xfrm>
            <a:off x="82296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시제품과 안전 설계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특허·상표 조사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KC 인증 준비</a:t>
            </a:r>
            <a:endParaRPr lang="en-US" sz="1400" dirty="0"/>
          </a:p>
        </p:txBody>
      </p:sp>
      <p:sp>
        <p:nvSpPr>
          <p:cNvPr id="10" name="로드맵 카드 2"/>
          <p:cNvSpPr/>
          <p:nvPr/>
        </p:nvSpPr>
        <p:spPr>
          <a:xfrm>
            <a:off x="3383280" y="146304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로드맵 번호 원 2"/>
          <p:cNvSpPr/>
          <p:nvPr/>
        </p:nvSpPr>
        <p:spPr>
          <a:xfrm>
            <a:off x="3657600" y="173736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로드맵 번호 2"/>
          <p:cNvSpPr txBox="1"/>
          <p:nvPr/>
        </p:nvSpPr>
        <p:spPr>
          <a:xfrm>
            <a:off x="36576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로드맵 기간 2"/>
          <p:cNvSpPr txBox="1"/>
          <p:nvPr/>
        </p:nvSpPr>
        <p:spPr>
          <a:xfrm>
            <a:off x="36576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3~6개월</a:t>
            </a:r>
            <a:endParaRPr lang="en-US" sz="2000" dirty="0"/>
          </a:p>
        </p:txBody>
      </p:sp>
      <p:sp>
        <p:nvSpPr>
          <p:cNvPr id="14" name="로드맵 이름 2"/>
          <p:cNvSpPr txBox="1"/>
          <p:nvPr/>
        </p:nvSpPr>
        <p:spPr>
          <a:xfrm>
            <a:off x="365760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선판매</a:t>
            </a:r>
            <a:endParaRPr lang="en-US" sz="1500" dirty="0"/>
          </a:p>
        </p:txBody>
      </p:sp>
      <p:sp>
        <p:nvSpPr>
          <p:cNvPr id="15" name="로드맵 항목 2"/>
          <p:cNvSpPr txBox="1"/>
          <p:nvPr/>
        </p:nvSpPr>
        <p:spPr>
          <a:xfrm>
            <a:off x="365760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크라우드펀딩 선판매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수요와 가격 검증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초도 생산 발주</a:t>
            </a:r>
            <a:endParaRPr lang="en-US" sz="1400" dirty="0"/>
          </a:p>
        </p:txBody>
      </p:sp>
      <p:sp>
        <p:nvSpPr>
          <p:cNvPr id="16" name="로드맵 카드 3"/>
          <p:cNvSpPr/>
          <p:nvPr/>
        </p:nvSpPr>
        <p:spPr>
          <a:xfrm>
            <a:off x="6217920" y="146304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7" name="로드맵 번호 원 3"/>
          <p:cNvSpPr/>
          <p:nvPr/>
        </p:nvSpPr>
        <p:spPr>
          <a:xfrm>
            <a:off x="6492240" y="173736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로드맵 번호 3"/>
          <p:cNvSpPr txBox="1"/>
          <p:nvPr/>
        </p:nvSpPr>
        <p:spPr>
          <a:xfrm>
            <a:off x="6492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로드맵 기간 3"/>
          <p:cNvSpPr txBox="1"/>
          <p:nvPr/>
        </p:nvSpPr>
        <p:spPr>
          <a:xfrm>
            <a:off x="6492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6~12개월</a:t>
            </a:r>
            <a:endParaRPr lang="en-US" sz="2000" dirty="0"/>
          </a:p>
        </p:txBody>
      </p:sp>
      <p:sp>
        <p:nvSpPr>
          <p:cNvPr id="20" name="로드맵 이름 3"/>
          <p:cNvSpPr txBox="1"/>
          <p:nvPr/>
        </p:nvSpPr>
        <p:spPr>
          <a:xfrm>
            <a:off x="649224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정식 출시</a:t>
            </a:r>
            <a:endParaRPr lang="en-US" sz="1500" dirty="0"/>
          </a:p>
        </p:txBody>
      </p:sp>
      <p:sp>
        <p:nvSpPr>
          <p:cNvPr id="21" name="로드맵 항목 3"/>
          <p:cNvSpPr txBox="1"/>
          <p:nvPr/>
        </p:nvSpPr>
        <p:spPr>
          <a:xfrm>
            <a:off x="649224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자사몰·마켓 판매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기부 프로그램 시작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고객 후기 수집</a:t>
            </a:r>
            <a:endParaRPr lang="en-US" sz="1400" dirty="0"/>
          </a:p>
        </p:txBody>
      </p:sp>
      <p:sp>
        <p:nvSpPr>
          <p:cNvPr id="22" name="로드맵 카드 4"/>
          <p:cNvSpPr/>
          <p:nvPr/>
        </p:nvSpPr>
        <p:spPr>
          <a:xfrm>
            <a:off x="9052560" y="146304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로드맵 번호 원 4"/>
          <p:cNvSpPr/>
          <p:nvPr/>
        </p:nvSpPr>
        <p:spPr>
          <a:xfrm>
            <a:off x="9326880" y="173736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4" name="로드맵 번호 4"/>
          <p:cNvSpPr txBox="1"/>
          <p:nvPr/>
        </p:nvSpPr>
        <p:spPr>
          <a:xfrm>
            <a:off x="93268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로드맵 기간 4"/>
          <p:cNvSpPr txBox="1"/>
          <p:nvPr/>
        </p:nvSpPr>
        <p:spPr>
          <a:xfrm>
            <a:off x="932688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2~3년차</a:t>
            </a:r>
            <a:endParaRPr lang="en-US" sz="2000" dirty="0"/>
          </a:p>
        </p:txBody>
      </p:sp>
      <p:sp>
        <p:nvSpPr>
          <p:cNvPr id="26" name="로드맵 이름 4"/>
          <p:cNvSpPr txBox="1"/>
          <p:nvPr/>
        </p:nvSpPr>
        <p:spPr>
          <a:xfrm>
            <a:off x="932688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확장</a:t>
            </a:r>
            <a:endParaRPr lang="en-US" sz="1500" dirty="0"/>
          </a:p>
        </p:txBody>
      </p:sp>
      <p:sp>
        <p:nvSpPr>
          <p:cNvPr id="27" name="로드맵 항목 4"/>
          <p:cNvSpPr txBox="1"/>
          <p:nvPr/>
        </p:nvSpPr>
        <p:spPr>
          <a:xfrm>
            <a:off x="932688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호텔·기숙사 B2B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해외 진출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환원 1% 상향 검토</a:t>
            </a:r>
            <a:endParaRPr lang="en-US" sz="1400" dirty="0"/>
          </a:p>
        </p:txBody>
      </p:sp>
      <p:sp>
        <p:nvSpPr>
          <p:cNvPr id="28" name="검증 카드"/>
          <p:cNvSpPr/>
          <p:nvPr/>
        </p:nvSpPr>
        <p:spPr>
          <a:xfrm>
            <a:off x="548640" y="502920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검증 제목"/>
          <p:cNvSpPr txBox="1"/>
          <p:nvPr/>
        </p:nvSpPr>
        <p:spPr>
          <a:xfrm>
            <a:off x="82296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먼저 검증할 것</a:t>
            </a:r>
            <a:endParaRPr lang="en-US" sz="1400" dirty="0"/>
          </a:p>
        </p:txBody>
      </p:sp>
      <p:sp>
        <p:nvSpPr>
          <p:cNvPr id="30" name="검증 내용"/>
          <p:cNvSpPr txBox="1"/>
          <p:nvPr/>
        </p:nvSpPr>
        <p:spPr>
          <a:xfrm>
            <a:off x="822960" y="54681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① 소비자 설문으로 9.9만원 지불 의사 확인  ② 손 동작 안전성(어린이·반려동물·수면 중 부상)  ③ 유사 특허 침해 여부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수치 신뢰도 점검</a:t>
            </a:r>
            <a:endParaRPr lang="en-US" sz="3000" dirty="0"/>
          </a:p>
        </p:txBody>
      </p:sp>
      <p:graphicFrame>
        <p:nvGraphicFramePr>
          <p:cNvPr id="25" name="신뢰도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1188720"/>
                <a:gridCol w="313639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수치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근거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신뢰도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보완 방법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경쟁 제품 가격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소매 페이지, 2007년 기사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현재 판매가 직접 확인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Clocky 판매량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인터뷰 50만 대, 3년 13만 대, 2년 3.5만 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낮음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업체·보도 추가 확인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Hatch 매출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제3자 추정 $5~7M, 비공개 기업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낮음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참고용으로만 사용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시장 규모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리서치사 전망, 정의가 서로 다름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낮음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기상 제품 시장 별도 조사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비용 구조 비중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업계 벤치마크 기반 가정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낮음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공급사 견적으로 대체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우리 부품 원가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가정. 서보 소매가 $11~14(소량) 대비 낮게 잡음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낮음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OEM·부품사 3곳 대량 견적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판매 수수료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블로그·기사 요율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플랫폼 공식 요율 확인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인증 비용·기간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배터리 KC 업체 추정 700~1,500만원, 4~12주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낮음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시험기관 견적, 전파인증 포함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기부 벤치마크·세법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언론 보도, 2차 세무 자료. 현물의 부가세는 미확인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중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세무사 확인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신뢰도 각주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영업이익은 법인세·감가상각 반영 전 수치이며, 현금흐름표는 포함하지 않았습니다.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가정과 출처</a:t>
            </a:r>
            <a:endParaRPr lang="en-US" sz="3000" dirty="0"/>
          </a:p>
        </p:txBody>
      </p:sp>
      <p:sp>
        <p:nvSpPr>
          <p:cNvPr id="4" name="가정 제목"/>
          <p:cNvSpPr txBox="1"/>
          <p:nvPr/>
        </p:nvSpPr>
        <p:spPr>
          <a:xfrm>
            <a:off x="5486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주요 가정</a:t>
            </a:r>
            <a:endParaRPr lang="en-US" sz="1600" dirty="0"/>
          </a:p>
        </p:txBody>
      </p:sp>
      <p:sp>
        <p:nvSpPr>
          <p:cNvPr id="5" name="가정 목록"/>
          <p:cNvSpPr txBox="1"/>
          <p:nvPr/>
        </p:nvSpPr>
        <p:spPr>
          <a:xfrm>
            <a:off x="548640" y="1828800"/>
            <a:ext cx="3931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환율 1,400원/$, 소비자가 99,000원(공급가 90,000원)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판매 채널: 자사몰 35%(수수료 약 6%), 마켓 35%(약 9%), 크라우드펀딩 20%(약 13%), B2B 10%(30%) → 평균 11%. 요율은 블로그·기사 기준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인건비: 1년차 5명 2.0억원, 3년차 14명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경쟁 제품 비용 비중은 공개 재무자료가 없어 추정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세법·기부 한도는 2차 자료, 신고 전 세무사 확인 필요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0.12%(2023년 100대 기업)는 사회공헌백서를 인용한 언론 보도 기준</a:t>
            </a:r>
            <a:endParaRPr lang="en-US" sz="1300" dirty="0"/>
          </a:p>
        </p:txBody>
      </p:sp>
      <p:sp>
        <p:nvSpPr>
          <p:cNvPr id="6" name="출처 제목"/>
          <p:cNvSpPr txBox="1"/>
          <p:nvPr/>
        </p:nvSpPr>
        <p:spPr>
          <a:xfrm>
            <a:off x="4846320" y="1371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출처</a:t>
            </a:r>
            <a:endParaRPr lang="en-US" sz="1600" dirty="0"/>
          </a:p>
        </p:txBody>
      </p:sp>
      <p:sp>
        <p:nvSpPr>
          <p:cNvPr id="7" name="출처 목록 1"/>
          <p:cNvSpPr txBox="1"/>
          <p:nvPr/>
        </p:nvSpPr>
        <p:spPr>
          <a:xfrm>
            <a:off x="4846320" y="1828800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Wake-up Machine (Laughing Squid)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Clocky (Wikipedia)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Clocky 13만 대 (eGFI)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Clocky 가격 (New Atlas)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Sonic Alert 침대 진동기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Hatch 가격 (asinsight)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Hatch 매출 추정 (Owler)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ZEEQ 베개 (Gearbrain)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Sunrise 베개 (MobileSyrup)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스누즈 연구 (Discover)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스마트 클락 시장 (TBRC)</a:t>
            </a:r>
            <a:endParaRPr lang="en-US" sz="1100" dirty="0"/>
          </a:p>
        </p:txBody>
      </p:sp>
      <p:sp>
        <p:nvSpPr>
          <p:cNvPr id="8" name="출처 목록 2"/>
          <p:cNvSpPr txBox="1"/>
          <p:nvPr/>
        </p:nvSpPr>
        <p:spPr>
          <a:xfrm>
            <a:off x="8321040" y="1828800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스마트 베개 시장 (Technavio)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국내 수면 산업 (청년일보)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판매 수수료 비교 (glasswallet)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배터리 KC 인증 (Ufine)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 단체보험 (이투데이)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사회공헌백서 2024 (미래한국)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1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한경협 사회공헌 (이투데이)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1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전경련 구 조사 (이투데이)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2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Patagonia 1% for the Planet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u="sng" dirty="0">
                <a:solidFill>
                  <a:schemeClr val="tx1"/>
                </a:solidFill>
                <a:hlinkClick r:id="rId2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법인 기부금 한도 (2차 자료)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rning Hands">
  <a:themeElements>
    <a:clrScheme name="Morning Hands">
      <a:dk1>
        <a:srgbClr val="1B1F3B"/>
      </a:dk1>
      <a:lt1>
        <a:srgbClr val="FFFFFF"/>
      </a:lt1>
      <a:dk2>
        <a:srgbClr val="2E3566"/>
      </a:dk2>
      <a:lt2>
        <a:srgbClr val="EEF0F8"/>
      </a:lt2>
      <a:accent1>
        <a:srgbClr val="F4A259"/>
      </a:accent1>
      <a:accent2>
        <a:srgbClr val="5B6ABF"/>
      </a:accent2>
      <a:accent3>
        <a:srgbClr val="3E8E7E"/>
      </a:accent3>
      <a:accent4>
        <a:srgbClr val="E76F51"/>
      </a:accent4>
      <a:accent5>
        <a:srgbClr val="8E9AAF"/>
      </a:accent5>
      <a:accent6>
        <a:srgbClr val="B8C0E0"/>
      </a:accent6>
      <a:hlink>
        <a:srgbClr val="5B6ABF"/>
      </a:hlink>
      <a:folHlink>
        <a:srgbClr val="8E9AAF"/>
      </a:folHlink>
    </a:clrScheme>
    <a:fontScheme name="Morning Hands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모닝핸즈(가칭) 창업 사업 분석</dc:title>
  <dc:subject>PptxGenJS Presentation</dc:subject>
  <dc:creator>모닝핸즈 창업팀</dc:creator>
  <cp:lastModifiedBy>모닝핸즈 창업팀</cp:lastModifiedBy>
  <cp:revision>1</cp:revision>
  <dcterms:created xsi:type="dcterms:W3CDTF">2026-10-21T01:12:28Z</dcterms:created>
  <dcterms:modified xsi:type="dcterms:W3CDTF">2026-10-21T01:12:28Z</dcterms:modified>
</cp:coreProperties>
</file>