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1c57769f-9ede-6a44-0401-7862c4896ca6}">
          <p14:sldIdLst>
            <p14:sldId id="256"/>
          </p14:sldIdLst>
        </p14:section>
        <p14:section name="요약" id="{882a3736-207c-5051-e2f2-f67660a3d933}">
          <p14:sldIdLst>
            <p14:sldId id="257"/>
          </p14:sldIdLst>
        </p14:section>
        <p14:section name="1부 경쟁 제품 조사" id="{9aabe024-ab8a-465d-8f14-cac52adc17cb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부 우리 제품 매출 예상" id="{bd1823f2-70d6-33c8-8e34-9bbc3399eca7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3부 사회 환원" id="{e2479ea1-0c3f-80a6-8048-aa9bfe9c824c}">
          <p14:sldIdLst>
            <p14:sldId id="271"/>
            <p14:sldId id="272"/>
            <p14:sldId id="273"/>
            <p14:sldId id="274"/>
          </p14:sldIdLst>
        </p14:section>
        <p14:section name="실행 계획" id="{79671dc0-b96f-2019-e822-96eeec1d7eb2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늦잠의 원인은 소리 알람을 끄고 다시 잠드는 것.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판매량은 미검증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$45~$170 사이에 넓게 분포합니다. 우리는 약 $71(99,000원)로 중간에 자리합니다.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대기업은 매출의 약 0.2%, 세전이익의 3~4%를 사회공헌에 씁니다.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현물은 제조원가(장부가)로 계산하므로 같은 금액으로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비용 구조 비중과 Hatch 판매량은 추정·미검증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makezine.com/article/home/furniture/slap-yourself-awake-with-this-ridiculous-wake-up-machine-alarm-clock/" TargetMode="External"/><Relationship Id="rId3" Type="http://schemas.openxmlformats.org/officeDocument/2006/relationships/hyperlink" Target="https://wikipedia.com/wiki/Clocky" TargetMode="External"/><Relationship Id="rId4" Type="http://schemas.openxmlformats.org/officeDocument/2006/relationships/hyperlink" Target="https://newatlas.com/clocky-the-alarm-clock-that-runs-away/6959/" TargetMode="External"/><Relationship Id="rId5" Type="http://schemas.openxmlformats.org/officeDocument/2006/relationships/hyperlink" Target="https://shop.chha.ca/products/sonic-alert-home-aware-bed-shaker" TargetMode="External"/><Relationship Id="rId6" Type="http://schemas.openxmlformats.org/officeDocument/2006/relationships/hyperlink" Target="https://www.asinsight.com/report/US/sonic-alert-alarm-clock" TargetMode="External"/><Relationship Id="rId7" Type="http://schemas.openxmlformats.org/officeDocument/2006/relationships/hyperlink" Target="https://www.gii.co.jp/report/tbrc1695023-smart-clock-global-market-report.html" TargetMode="External"/><Relationship Id="rId8" Type="http://schemas.openxmlformats.org/officeDocument/2006/relationships/hyperlink" Target="https://giikorea.co.kr/report/tsci1941192-smart-clocks-market-global-industry-size-share.html" TargetMode="External"/><Relationship Id="rId9" Type="http://schemas.openxmlformats.org/officeDocument/2006/relationships/hyperlink" Target="https://giikorea.co.kr/report/infi1915548-global-smart-pillows-market.html" TargetMode="External"/><Relationship Id="rId10" Type="http://schemas.openxmlformats.org/officeDocument/2006/relationships/hyperlink" Target="https://www.etoday.co.kr/news/view/386228" TargetMode="External"/><Relationship Id="rId11" Type="http://schemas.openxmlformats.org/officeDocument/2006/relationships/hyperlink" Target="https://www.patagonia.com/one-percent-for-the-planet.html" TargetMode="External"/><Relationship Id="rId12" Type="http://schemas.openxmlformats.org/officeDocument/2006/relationships/hyperlink" Target="https://k-incorp.org/qa/conversion/&#48277;&#51064;-&#44592;&#48512;&#44552;-&#48708;&#50857;&#52376;&#47532;-&#54620;&#46020;&#45716;-&#50620;&#47560;&#51064;&#44032;&#50836;" TargetMode="External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$4M~$10M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Clocky형 약 56억원, Hatch형 약 143억원. 소비자가의 약 30%가 재료비와 제작 인건비입니다.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평균(0.2%)의 2.5배.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6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1920240"/>
                <a:gridCol w="2468880"/>
                <a:gridCol w="21305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2012년 인터뷰에서 누적 50만 대 이상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 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$169.99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월 약 5,000대(판매순위 사이트, 미검증)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16636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“베개에서 손이 나오는” 동일 상용 제품은 이번 조사에서 확인되지 않았습니다. 빈 틈 시장이지만, 유사 특허와 상표 조사는 추가로 필요합니다.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$7.7억 → $18.2억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클락(다른 집계)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2031년 전망, 연평균 15.35% (TechSci Research)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없으며, 성장률이 부풀려져 있을 수 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pic>
        <p:nvPicPr>
          <p:cNvPr id="4" name="차트 1" descr="1년 매출 추정 (백만 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Clocky형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≈ $4.0M (약 56억원)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누적 50만 대 ÷ 약 6년 ≈ 연 8만 대 × $50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Hatch형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≈ $10.2M (약 143억원)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월 5,000대 × 12개월 × $169.99 (판매순위 사이트, 미검증)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Sonic Alert는 판매량이 공개되지 않아 매출을 추정하지 않았습니다.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pic>
        <p:nvPicPr>
          <p:cNvPr id="4" name="차트 2" descr="비용·이익 구성 (매출 100%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212080" cy="4754880"/>
          </a:xfrm>
          <a:prstGeom prst="rect">
            <a:avLst/>
          </a:prstGeom>
        </p:spPr>
      </p:pic>
      <p:graphicFrame>
        <p:nvGraphicFramePr>
          <p:cNvPr id="9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($10.2M)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$0.96M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$2.24M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$0.41M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$0.28M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$0.51M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$1.53M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$0.48M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$2.04M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$2.45M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$1.02M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참고 벤치마크: Kindle 2 분해 시 재료·제조비 ≈ 소비자가의 51%, 아마존 전자제품 수수료 8%, 전자제품 반품률 8~12%. 비중은 추정입니다.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pic>
        <p:nvPicPr>
          <p:cNvPr id="4" name="차트 3" descr="가격 포지션 (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제조원가는 소비자가의 1/3 선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재료비와 제작 인건비가 소비자가의 약 30%일 때 마케팅과 개발비를 감당할 수 있습니다.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낮춥니다.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가격은 $50과 $170 사이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새로운 경험에 프리미엄을 받되, 고가 조명형보다는 접근하기 쉬운 9.9만원으로 잡습니다.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2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pic>
        <p:nvPicPr>
          <p:cNvPr id="4" name="차트 4" descr="재료비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754880"/>
          </a:xfrm>
          <a:prstGeom prst="rect">
            <a:avLst/>
          </a:prstGeom>
        </p:spPr>
      </p:pic>
      <p:graphicFrame>
        <p:nvGraphicFramePr>
          <p:cNvPr id="13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pic>
        <p:nvPicPr>
          <p:cNvPr id="4" name="차트 5" descr="월별 판매 대수 (기본안, 합계 10,000대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297680"/>
          </a:xfrm>
          <a:prstGeom prst="rect">
            <a:avLst/>
          </a:prstGeom>
        </p:spPr>
      </p:pic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pic>
        <p:nvPicPr>
          <p:cNvPr id="4" name="차트 6" descr="매출액과 영업이익 (억원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572000"/>
          </a:xfrm>
          <a:prstGeom prst="rect">
            <a:avLst/>
          </a:prstGeom>
        </p:spPr>
      </p:pic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6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4~5억원(추정): 1년차 적자 1.75억원과 초도 재고 운전자금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pic>
        <p:nvPicPr>
          <p:cNvPr id="4" name="차트 7" descr="매출 대비 기부 비율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매출 대비 약 0.2%, 세전이익 대비 약 3~4% (전경련 조사, 2009~2015년)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일반기부금은 소득금액의 10% 한도로 비용 인정, 초과분은 10년 이월. 현물은 장부가 평가 (2차 자료, 세무사 확인 필요)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평균(0.2%)의 2.5배라 창업 초기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4.3%로 국내 평균(세전이익의 3~4%)과 비슷합니다.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pic>
        <p:nvPicPr>
          <p:cNvPr id="4" name="차트 8" descr="환원 구성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023360" cy="3931920"/>
          </a:xfrm>
          <a:prstGeom prst="rect">
            <a:avLst/>
          </a:prstGeom>
        </p:spPr>
      </p:pic>
      <p:graphicFrame>
        <p:nvGraphicFramePr>
          <p:cNvPr id="20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채널: 자사몰 35%, 마켓 35%, 크라우드펀딩 20%, 오프라인·B2B 10% → 평균 수수료 11%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세법·기부 한도는 2차 자료, 신고 전 세무사 확인 필요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"/>
          <p:cNvSpPr txBox="1"/>
          <p:nvPr/>
        </p:nvSpPr>
        <p:spPr>
          <a:xfrm>
            <a:off x="4846320" y="1828800"/>
            <a:ext cx="67665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(Make:)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Atlas, 2007)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판매 순위 (asinsight)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(TechSci)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전경련 사회공헌 조사 (이투데이)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법인 기부금 한도 (2차 자료)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2026-10-21T00:43:56Z</dcterms:created>
  <dcterms:modified xsi:type="dcterms:W3CDTF">2026-10-21T00:43:56Z</dcterms:modified>
</cp:coreProperties>
</file>