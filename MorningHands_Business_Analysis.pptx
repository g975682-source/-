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d02385b-788b-7b03-9fce-c3ad1e5cecf0}">
          <p14:sldIdLst>
            <p14:sldId id="256"/>
          </p14:sldIdLst>
        </p14:section>
        <p14:section name="요약" id="{b58469aa-40fa-5ae4-e2c3-429a41860033}">
          <p14:sldIdLst>
            <p14:sldId id="257"/>
          </p14:sldIdLst>
        </p14:section>
        <p14:section name="1부 경쟁 제품 조사" id="{8c831dfd-d25a-9a9e-5d19-6b60bce75874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부 우리 제품 매출 예상" id="{935f3d10-96f0-9b39-755e-beedd38b152f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3부 사회 환원" id="{7630d9cf-0f72-3071-73e5-dc4925193e2c}">
          <p14:sldIdLst>
            <p14:sldId id="272"/>
            <p14:sldId id="273"/>
            <p14:sldId id="274"/>
            <p14:sldId id="275"/>
          </p14:sldIdLst>
        </p14:section>
        <p14:section name="리스크" id="{7bec6f01-6159-61f5-213c-fcfa58012393}">
          <p14:sldIdLst>
            <p14:sldId id="276"/>
          </p14:sldIdLst>
        </p14:section>
        <p14:section name="실행 계획" id="{1d121a79-e216-897c-685d-d99e454c5a1c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늦잠의 원인은 소리 알람을 끄고 다시 잠드는 것.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제3자 추정입니다.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대기업은 매출의 약 0.1~0.2%를 사회공헌에 씁니다(조사별 상이).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현물은 제조원가(장부가)로 계산하므로 같은 금액으로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비용 구조 비중과 Hatch 판매량은 추정·미검증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newatlas.com/clocky-the-alarm-clock-that-runs-away/6959/" TargetMode="External"/><Relationship Id="rId4" Type="http://schemas.openxmlformats.org/officeDocument/2006/relationships/hyperlink" Target="https://shop.chha.ca/products/sonic-alert-home-aware-bed-shaker" TargetMode="External"/><Relationship Id="rId5" Type="http://schemas.openxmlformats.org/officeDocument/2006/relationships/hyperlink" Target="https://www.asinsight.com/report/US/sonic-alert-alarm-clock" TargetMode="External"/><Relationship Id="rId6" Type="http://schemas.openxmlformats.org/officeDocument/2006/relationships/hyperlink" Target="https://www.owler.com/company/hatchbaby" TargetMode="External"/><Relationship Id="rId7" Type="http://schemas.openxmlformats.org/officeDocument/2006/relationships/hyperlink" Target="https://www.gearbrain.com/zeeq-worlds-smartest-pillow-on-kickstarter-1922081846.html" TargetMode="External"/><Relationship Id="rId8" Type="http://schemas.openxmlformats.org/officeDocument/2006/relationships/hyperlink" Target="https://mobilesyrup.com/2017/05/20/sunrise-smart-pillow-device/" TargetMode="External"/><Relationship Id="rId9" Type="http://schemas.openxmlformats.org/officeDocument/2006/relationships/hyperlink" Target="https://www.gii.co.jp/report/tbrc1695023-smart-clock-global-market-report.html" TargetMode="External"/><Relationship Id="rId10" Type="http://schemas.openxmlformats.org/officeDocument/2006/relationships/hyperlink" Target="https://giikorea.co.kr/report/tsci1941192-smart-clocks-market-global-industry-size-share.html" TargetMode="External"/><Relationship Id="rId11" Type="http://schemas.openxmlformats.org/officeDocument/2006/relationships/hyperlink" Target="https://giikorea.co.kr/report/infi1915548-global-smart-pillows-market.html" TargetMode="External"/><Relationship Id="rId12" Type="http://schemas.openxmlformats.org/officeDocument/2006/relationships/hyperlink" Target="https://glasswallet.com/calculate/smartstore-fee/vs-other-platforms" TargetMode="External"/><Relationship Id="rId13" Type="http://schemas.openxmlformats.org/officeDocument/2006/relationships/hyperlink" Target="https://www.etoday.co.kr/news/view/2535828" TargetMode="External"/><Relationship Id="rId14" Type="http://schemas.openxmlformats.org/officeDocument/2006/relationships/hyperlink" Target="https://www.etoday.co.kr/news/view/386228" TargetMode="External"/><Relationship Id="rId15" Type="http://schemas.openxmlformats.org/officeDocument/2006/relationships/hyperlink" Target="https://www.patagonia.com/one-percent-for-the-planet.html" TargetMode="External"/><Relationship Id="rId16" Type="http://schemas.openxmlformats.org/officeDocument/2006/relationships/hyperlink" Target="https://k-incorp.org/qa/conversion/&#48277;&#51064;-&#44592;&#48512;&#44552;-&#48708;&#50857;&#52376;&#47532;-&#54620;&#46020;&#45716;-&#50620;&#47560;&#51064;&#44032;&#50836;" TargetMode="External"/><Relationship Id="rId17" Type="http://schemas.openxmlformats.org/officeDocument/2006/relationships/slideLayout" Target="../slideLayouts/slideLayout4.xml"/><Relationship Id="rId18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$1M~$7M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$0.9~4.2M, Hatch 연 $5~7M(제3자 추정).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평균(0.1~0.2%)의 2.5배 이상.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6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대(2012 인터뷰), 초기 2년 3.5만 대(사례 자료)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연 매출 $5~7M 추정(제3자, 비공개)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“베개에서 손이 나오는” 동일 상용 제품은 확인되지 않았습니다. 다만 센서형 스마트 베개가 이미 있어, 차별점을 ‘물리적 터치’로 증명하는 것이 핵심입니다. 유사 특허 조사도 필요합니다.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$7.7억 → $18.2억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클락(다른 집계)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2031년 전망, 연평균 15.35% (TechSci Research)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없으며, 성장률이 부풀려져 있을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$0.9M ~ $4.2M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13억~59억원. 초기 2년 3.5만 대 → 연 $0.9M, 누적 50만 대 ÷ 약 6년 → 연 $4.2M. 판매량 출처 간 편차가 큽니다.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$5M ~ $7M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70억~98억원. 비공개 기업의 제3자 추정치이며 여러 제품을 합친 회사 전체 매출입니다.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Sonic Alert는 판매량이 공개되지 않아 매출을 추정하지 않았습니다.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9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($6.0M)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$1.32M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$0.24M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$0.30M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$0.90M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$1.20M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$1.44M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 ≈ 소비자가의 51%, 아마존 전자제품 수수료 8%, 전자제품 반품률 8~12%.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제조원가는 소비자가의 1/3 선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재료비와 제작 인건비가 소비자가의 약 30%일 때 마케팅과 개발비를 감당할 수 있습니다.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낮춥니다.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2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3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6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4~5억원(추정): 1년차 적자 1.75억원과 초도 재고 운전자금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7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3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4846320"/>
            <a:ext cx="11091672" cy="128016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고정비는 3.5억원, 수수료 11%, 반품 4%로 고정했습니다.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매출 대비 약 0.1~0.2% (2023년 100대 기업 0.12%, 구 전경련 0.2%). 세전이익 대비 3~4%는 2009~2015년 자료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일반기부금은 소득금액의 10% 한도로 비용 인정, 초과분은 10년 이월. 현물은 장부가 평가 (2차 자료, 세무사 확인 필요)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평균(0.1~0.2%)의 2.5배 이상이라 창업 초기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4.3%로 국내 평균(세전이익의 3~4%, 구 조사)과 비슷합니다.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1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신체 접촉으로 어린이·고령자·반려동물이 다칠 수 있습니다. 힘 제한, 정지 센서, 제조물책임(PL) 보험이 필요합니다.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내장 배터리와 블루투스가 있어 전기용품 안전 인증과 전파인증 검토가 필요합니다. 비용과 기간은 미확인입니다.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4~5억원이 필요합니다.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4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2007년 기사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인터뷰 50만 대 vs 사례 3.5만 대(2년)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업체·보도 추가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제3자 추정 $5~7M, 비공개 기업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기상 제품 시장 별도 조사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비용 구조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가정 (견적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블로그·기사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플랫폼 공식 요율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미확인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기부 벤치마크·세법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한경협 등 조사, 2차 세무 자료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세무사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채널: 자사몰 35%(수수료 약 6%), 마켓 35%(약 9%), 크라우드펀딩 20%(약 13%), B2B 10%(30%) → 평균 11%. 요율은 블로그·기사 기준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세법·기부 한도는 2차 자료, 신고 전 세무사 확인 필요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0.12%(2023년 100대 기업)는 한국사회복지협의회 사회공헌백서 인용, 원문 확인 필요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"/>
          <p:cNvSpPr txBox="1"/>
          <p:nvPr/>
        </p:nvSpPr>
        <p:spPr>
          <a:xfrm>
            <a:off x="4846320" y="1828800"/>
            <a:ext cx="6766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Atlas, 2007)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추정 (Owler)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스마트 베개 (Gearbrain)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스마트 베개 (MobileSyrup)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(TechSci)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판매 수수료 비교 (glasswallet)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한경협 사회공헌 2024 (이투데이)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전경련 사회공헌 조사 (이투데이)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 기부금 한도 (2차 자료)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2026-10-21T01:02:49Z</dcterms:created>
  <dcterms:modified xsi:type="dcterms:W3CDTF">2026-10-21T01:02:49Z</dcterms:modified>
</cp:coreProperties>
</file>