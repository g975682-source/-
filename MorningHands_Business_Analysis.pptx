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d97e8ef-4728-9d57-6e9a-499fbde6eea9}">
          <p14:sldIdLst>
            <p14:sldId id="256"/>
          </p14:sldIdLst>
        </p14:section>
        <p14:section name="요약" id="{05d3161f-6a10-7f59-5e53-a7de6cc20a7e}">
          <p14:sldIdLst>
            <p14:sldId id="257"/>
          </p14:sldIdLst>
        </p14:section>
        <p14:section name="1부 경쟁 제품 조사" id="{aa09a8f5-7b45-0323-7ca1-2040e4716b5d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2부 우리 제품 매출 예상" id="{0277d8f8-f9f4-382c-8b72-d2f41db83d8b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3부 사회 환원" id="{47e0f15f-0314-bf7e-c62d-cc7e3ac573b6}">
          <p14:sldIdLst>
            <p14:sldId id="271"/>
            <p14:sldId id="272"/>
            <p14:sldId id="273"/>
            <p14:sldId id="274"/>
          </p14:sldIdLst>
        </p14:section>
        <p14:section name="실행 계획" id="{0af0c10b-c46d-ba73-8d5b-ab332950fbb8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1년 매출 추정 (백만 달러)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연 매출 추정($M)</c:v>
                </c:pt>
              </c:strCache>
            </c:strRef>
          </c:tx>
          <c:spPr>
            <a:solidFill>
              <a:srgbClr val="5B6ABF"/>
            </a:solidFill>
            <a:effectLst/>
          </c:spPr>
          <c:invertIfNegative val="0"/>
          <c:dLbls>
            <c:numFmt formatCode="$0.0&quot;M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AB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4A25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Clocky형</c:v>
                  </c:pt>
                  <c:pt idx="1">
                    <c:v>Hatch형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10.2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비용·이익 구성 (매출 100%)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재료비</c:v>
                </c:pt>
              </c:strCache>
            </c:strRef>
          </c:tx>
          <c:spPr>
            <a:solidFill>
              <a:srgbClr val="5B6A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Clocky형</c:v>
                  </c:pt>
                  <c:pt idx="1">
                    <c:v>Hatch형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</c:v>
                </c:pt>
                <c:pt idx="1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제작 인건비</c:v>
                </c:pt>
              </c:strCache>
            </c:strRef>
          </c:tx>
          <c:spPr>
            <a:solidFill>
              <a:srgbClr val="B8C0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Clocky형</c:v>
                  </c:pt>
                  <c:pt idx="1">
                    <c:v>Hatch형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물류·포장</c:v>
                </c:pt>
              </c:strCache>
            </c:strRef>
          </c:tx>
          <c:spPr>
            <a:solidFill>
              <a:srgbClr val="8E9A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Clocky형</c:v>
                  </c:pt>
                  <c:pt idx="1">
                    <c:v>Hatch형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</c:v>
                </c:pt>
                <c:pt idx="1">
                  <c:v>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판매 수수료·유통</c:v>
                </c:pt>
              </c:strCache>
            </c:strRef>
          </c:tx>
          <c:spPr>
            <a:solidFill>
              <a:srgbClr val="E76F5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Clocky형</c:v>
                  </c:pt>
                  <c:pt idx="1">
                    <c:v>Hatch형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25</c:v>
                </c:pt>
                <c:pt idx="1">
                  <c:v>15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마케팅</c:v>
                </c:pt>
              </c:strCache>
            </c:strRef>
          </c:tx>
          <c:spPr>
            <a:solidFill>
              <a:srgbClr val="F4A2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Clocky형</c:v>
                  </c:pt>
                  <c:pt idx="1">
                    <c:v>Hatch형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12</c:v>
                </c:pt>
                <c:pt idx="1">
                  <c:v>20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연구개발·관리</c:v>
                </c:pt>
              </c:strCache>
            </c:strRef>
          </c:tx>
          <c:spPr>
            <a:solidFill>
              <a:srgbClr val="2E35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Clocky형</c:v>
                  </c:pt>
                  <c:pt idx="1">
                    <c:v>Hatch형</c:v>
                  </c:pt>
                </c:lvl>
              </c:multiLvlStrCache>
            </c:multiLvl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16</c:v>
                </c:pt>
                <c:pt idx="1">
                  <c:v>24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영업이익</c:v>
                </c:pt>
              </c:strCache>
            </c:strRef>
          </c:tx>
          <c:spPr>
            <a:solidFill>
              <a:srgbClr val="3E8E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Clocky형</c:v>
                  </c:pt>
                  <c:pt idx="1">
                    <c:v>Hatch형</c:v>
                  </c:pt>
                </c:lvl>
              </c:multiLvlStrCache>
            </c:multiLvlStrRef>
          </c:cat>
          <c:val>
            <c:numRef>
              <c:f>Sheet1!$H$2:$H$3</c:f>
              <c:numCache>
                <c:formatCode>General</c:formatCode>
                <c:ptCount val="2"/>
                <c:pt idx="0">
                  <c:v>10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DE1EE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E35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가격 포지션 (달러)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가격($)</c:v>
                </c:pt>
              </c:strCache>
            </c:strRef>
          </c:tx>
          <c:spPr>
            <a:solidFill>
              <a:srgbClr val="8E9AAF"/>
            </a:solidFill>
            <a:effectLst/>
          </c:spPr>
          <c:invertIfNegative val="0"/>
          <c:dLbls>
            <c:numFmt formatCode="$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4A25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Sonic Bomb 세트</c:v>
                  </c:pt>
                  <c:pt idx="1">
                    <c:v>Clocky</c:v>
                  </c:pt>
                  <c:pt idx="2">
                    <c:v>우리 제품</c:v>
                  </c:pt>
                  <c:pt idx="3">
                    <c:v>Hatch Restore 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44.99</c:v>
                </c:pt>
                <c:pt idx="1">
                  <c:v>50</c:v>
                </c:pt>
                <c:pt idx="2">
                  <c:v>70.7</c:v>
                </c:pt>
                <c:pt idx="3">
                  <c:v>169.99</c:v>
                </c:pt>
              </c:numCache>
            </c:numRef>
          </c:val>
        </c:ser>
        <c:dLbls>
          <c:numFmt formatCode="$0" sourceLinked="0"/>
          <c:txPr>
            <a:bodyPr/>
            <a:lstStyle/>
            <a:p>
              <a:pPr>
                <a:defRPr b="1" i="0" strike="noStrike" sz="12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재료비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B6ABF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4A259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3E8E7E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76F5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2E3566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8E9AAF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B8C0E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7"/>
            <c:bubble3D val="0"/>
            <c:spPr>
              <a:solidFill>
                <a:srgbClr val="1B1F3B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베개 본체 (폼·커버)</c:v>
                </c:pt>
                <c:pt idx="1">
                  <c:v>모터·링크 (서보)</c:v>
                </c:pt>
                <c:pt idx="2">
                  <c:v>배터리·충전회로</c:v>
                </c:pt>
                <c:pt idx="3">
                  <c:v>MCU·블루투스</c:v>
                </c:pt>
                <c:pt idx="4">
                  <c:v>하우징·PCB·부자재</c:v>
                </c:pt>
                <c:pt idx="5">
                  <c:v>포장</c:v>
                </c:pt>
                <c:pt idx="6">
                  <c:v>실리콘 손</c:v>
                </c:pt>
                <c:pt idx="7">
                  <c:v>센서 (압력·IMU)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7000</c:v>
                </c:pt>
                <c:pt idx="1">
                  <c:v>6000</c:v>
                </c:pt>
                <c:pt idx="2">
                  <c:v>5000</c:v>
                </c:pt>
                <c:pt idx="3">
                  <c:v>4500</c:v>
                </c:pt>
                <c:pt idx="4">
                  <c:v>4000</c:v>
                </c:pt>
                <c:pt idx="5">
                  <c:v>3000</c:v>
                </c:pt>
                <c:pt idx="6">
                  <c:v>2500</c:v>
                </c:pt>
                <c:pt idx="7">
                  <c:v>2000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E35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월별 판매 대수 (기본안, 합계 10,000대)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판매 대수</c:v>
                </c:pt>
              </c:strCache>
            </c:strRef>
          </c:tx>
          <c:spPr>
            <a:solidFill>
              <a:srgbClr val="5B6A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300</c:v>
                </c:pt>
                <c:pt idx="1">
                  <c:v>400</c:v>
                </c:pt>
                <c:pt idx="2">
                  <c:v>500</c:v>
                </c:pt>
                <c:pt idx="3">
                  <c:v>600</c:v>
                </c:pt>
                <c:pt idx="4">
                  <c:v>700</c:v>
                </c:pt>
                <c:pt idx="5">
                  <c:v>800</c:v>
                </c:pt>
                <c:pt idx="6">
                  <c:v>900</c:v>
                </c:pt>
                <c:pt idx="7">
                  <c:v>1000</c:v>
                </c:pt>
                <c:pt idx="8">
                  <c:v>1100</c:v>
                </c:pt>
                <c:pt idx="9">
                  <c:v>1150</c:v>
                </c:pt>
                <c:pt idx="10">
                  <c:v>1250</c:v>
                </c:pt>
                <c:pt idx="11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매출액과 영업이익 (억원)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</c:v>
                </c:pt>
              </c:strCache>
            </c:strRef>
          </c:tx>
          <c:spPr>
            <a:solidFill>
              <a:srgbClr val="5B6ABF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27</c:v>
                </c:pt>
                <c:pt idx="2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영업이익</c:v>
                </c:pt>
              </c:strCache>
            </c:strRef>
          </c:tx>
          <c:spPr>
            <a:solidFill>
              <a:srgbClr val="F4A259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-1.75</c:v>
                </c:pt>
                <c:pt idx="1">
                  <c:v>1.14</c:v>
                </c:pt>
                <c:pt idx="2">
                  <c:v>6.26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1" i="0" strike="noStrike" sz="12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-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E35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매출 대비 기부 비율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 대비 기부 비율(%)</c:v>
                </c:pt>
              </c:strCache>
            </c:strRef>
          </c:tx>
          <c:spPr>
            <a:solidFill>
              <a:srgbClr val="8E9AA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4A25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9AA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국내 대기업 평균</c:v>
                  </c:pt>
                  <c:pt idx="1">
                    <c:v>우리 제안</c:v>
                  </c:pt>
                  <c:pt idx="2">
                    <c:v>Patagonia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0.5</c:v>
                </c:pt>
                <c:pt idx="2">
                  <c:v>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35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환원 구성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B6ABF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4A259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3E8E7E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76F5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제품 기부 40%</c:v>
                </c:pt>
                <c:pt idx="1">
                  <c:v>후원금 30%</c:v>
                </c:pt>
                <c:pt idx="2">
                  <c:v>재능기부 15%</c:v>
                </c:pt>
                <c:pt idx="3">
                  <c:v>봉사 15%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E35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창업 시나리오입니다. 1부 경쟁 제품 조사, 2부 우리 제품 매출 예상, 3부 사회 환원 비율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제품, 우리 매출 예상, 사회 환원 비율의 결론을 한 장에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늦잠의 원인은 소리 알람을 끄고 다시 잠드는 것. 우리는 소리 대신 촉각으로 깨웁니다.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동일한 상용 제품은 확인되지 않았고, 깨우는 방식이 비슷한 제품을 비교했습니다. Hatch 판매량은 미검증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기상 베개 단독 시장 수치는 없어서, 스마트 클락과 스마트 베개 시장을 참고했습니다. 업체별 정의가 달라 직접 비교는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공개된 누적 판매량과 가격으로 역산한 추정치입니다. 실제 재무제표가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재무자료가 없어 업계 벤치마크로 비중을 가정했습니다. 재료비와 제작 인건비를 합치면 소비자가의 약 30%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$45~$170 사이에 넓게 분포합니다. 우리는 약 $71(99,000원)로 중간에 자리합니다.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99,000원에서 부가세를 빼면 공급가 90,000원. 제조원가가 약 51%, 공헌이익이 약 19%입니다.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34,000원의 구성입니다. 초도 1만 대 기준이며 3년차에는 규모의 경제로 제조원가가 약 13% 낮아진다고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1년차는 정식 출시 후 첫 12개월입니다. 기본안은 1만 대, 보수안 5천 대, 낙관안 2만 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판매 1만 대, 3만 대, 6만 대로 늘고 규모의 경제로 공헌이익률이 19%에서 30%로 개선됩니다.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금액은 억원, 부가세 제외입니다. 고정비에는 인건비, 임차료, 금형·개발·인증비가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대기업은 매출의 약 0.2%, 세전이익의 3~4%를 사회공헌에 씁니다. Patagonia는 1985년부터 매출의 1%를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기준은 적자 구간에도 약속이 유지되고, 비현금 비중이 커서 현금 부담이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현물은 제조원가(장부가)로 계산하므로 같은 금액으로 더 많은 제품을 전달할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 후 첫 1년의 실행 순서입니다. 환원 프로그램은 정식 출시와 동시에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가정을 정리한 슬라이드입니다. 비용 구조 비중과 Hatch 판매량은 추정·미검증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모닝핸즈(가칭) · 가상 창업 시나리오 — 수치는 공개 자료와 가정에 기반한 추정치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image" Target="../media/image-17-1.png"/><Relationship Id="rId3" Type="http://schemas.openxmlformats.org/officeDocument/2006/relationships/image" Target="../media/image-17-2.pn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laughingsquid.com/the-wake-up-machine-a-robotic-rubber-hand-alarm-that-wakes-a-person-up-by-repeatedly-slapping-them-in-the-face/" TargetMode="External"/><Relationship Id="rId2" Type="http://schemas.openxmlformats.org/officeDocument/2006/relationships/hyperlink" Target="https://makezine.com/article/home/furniture/slap-yourself-awake-with-this-ridiculous-wake-up-machine-alarm-clock/" TargetMode="External"/><Relationship Id="rId3" Type="http://schemas.openxmlformats.org/officeDocument/2006/relationships/hyperlink" Target="https://wikipedia.com/wiki/Clocky" TargetMode="External"/><Relationship Id="rId4" Type="http://schemas.openxmlformats.org/officeDocument/2006/relationships/hyperlink" Target="https://newatlas.com/clocky-the-alarm-clock-that-runs-away/6959/" TargetMode="External"/><Relationship Id="rId5" Type="http://schemas.openxmlformats.org/officeDocument/2006/relationships/hyperlink" Target="https://shop.chha.ca/products/sonic-alert-home-aware-bed-shaker" TargetMode="External"/><Relationship Id="rId6" Type="http://schemas.openxmlformats.org/officeDocument/2006/relationships/hyperlink" Target="https://www.asinsight.com/report/US/sonic-alert-alarm-clock" TargetMode="External"/><Relationship Id="rId7" Type="http://schemas.openxmlformats.org/officeDocument/2006/relationships/hyperlink" Target="https://www.gii.co.jp/report/tbrc1695023-smart-clock-global-market-report.html" TargetMode="External"/><Relationship Id="rId8" Type="http://schemas.openxmlformats.org/officeDocument/2006/relationships/hyperlink" Target="https://giikorea.co.kr/report/tsci1941192-smart-clocks-market-global-industry-size-share.html" TargetMode="External"/><Relationship Id="rId9" Type="http://schemas.openxmlformats.org/officeDocument/2006/relationships/hyperlink" Target="https://giikorea.co.kr/report/infi1915548-global-smart-pillows-market.html" TargetMode="External"/><Relationship Id="rId10" Type="http://schemas.openxmlformats.org/officeDocument/2006/relationships/hyperlink" Target="https://www.etoday.co.kr/news/view/386228" TargetMode="External"/><Relationship Id="rId11" Type="http://schemas.openxmlformats.org/officeDocument/2006/relationships/hyperlink" Target="https://www.patagonia.com/one-percent-for-the-planet.html" TargetMode="External"/><Relationship Id="rId12" Type="http://schemas.openxmlformats.org/officeDocument/2006/relationships/hyperlink" Target="https://k-incorp.org/qa/conversion/&#48277;&#51064;-&#44592;&#48512;&#44552;-&#48708;&#50857;&#52376;&#47532;-&#54620;&#46020;&#45716;-&#50620;&#47560;&#51064;&#44032;&#50836;" TargetMode="External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모닝핸즈 (가칭)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베개에서 손이 나와 깨워주는 스마트 베개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경쟁 제품 분석 · 연간 매출 예상 · 사회 환원 제안</a:t>
            </a:r>
            <a:endParaRPr lang="en-US" sz="2000" dirty="0"/>
          </a:p>
        </p:txBody>
      </p:sp>
      <p:sp>
        <p:nvSpPr>
          <p:cNvPr id="4" name="표지 원"/>
          <p:cNvSpPr/>
          <p:nvPr/>
        </p:nvSpPr>
        <p:spPr>
          <a:xfrm>
            <a:off x="7863840" y="1371600"/>
            <a:ext cx="3840480" cy="3840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5" name="표지 손 아이콘" descr="손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68880"/>
            <a:ext cx="1645920" cy="1645920"/>
          </a:xfrm>
          <a:prstGeom prst="rect">
            <a:avLst/>
          </a:prstGeom>
        </p:spPr>
      </p:pic>
      <p:pic>
        <p:nvPicPr>
          <p:cNvPr id="6" name="표지 달 아이콘" descr="달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핵심 요약: 세 가지 결론</a:t>
            </a:r>
            <a:endParaRPr lang="en-US" sz="3000" dirty="0"/>
          </a:p>
        </p:txBody>
      </p:sp>
      <p:sp>
        <p:nvSpPr>
          <p:cNvPr id="4" name="요약 카드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요약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6" name="요약 1 아이콘" descr="요약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요약 숫자 1"/>
          <p:cNvSpPr txBox="1"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$4M~$10M</a:t>
            </a:r>
            <a:endParaRPr lang="en-US" sz="4000" dirty="0"/>
          </a:p>
        </p:txBody>
      </p:sp>
      <p:sp>
        <p:nvSpPr>
          <p:cNvPr id="8" name="요약 라벨 1"/>
          <p:cNvSpPr txBox="1"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유사 제품 1년 매출 추정</a:t>
            </a:r>
            <a:endParaRPr lang="en-US" sz="1600" dirty="0"/>
          </a:p>
        </p:txBody>
      </p:sp>
      <p:sp>
        <p:nvSpPr>
          <p:cNvPr id="9" name="요약 설명 1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Clocky형 약 56억원, Hatch형 약 143억원. 소비자가의 약 30%가 재료비와 제작 인건비입니다.</a:t>
            </a:r>
            <a:endParaRPr lang="en-US" sz="1400" dirty="0"/>
          </a:p>
        </p:txBody>
      </p:sp>
      <p:sp>
        <p:nvSpPr>
          <p:cNvPr id="10" name="요약 카드 2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요약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2" name="요약 2 아이콘" descr="요약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요약 숫자 2"/>
          <p:cNvSpPr txBox="1"/>
          <p:nvPr/>
        </p:nvSpPr>
        <p:spPr>
          <a:xfrm>
            <a:off x="4654296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9억원</a:t>
            </a:r>
            <a:endParaRPr lang="en-US" sz="4000" dirty="0"/>
          </a:p>
        </p:txBody>
      </p:sp>
      <p:sp>
        <p:nvSpPr>
          <p:cNvPr id="14" name="요약 라벨 2"/>
          <p:cNvSpPr txBox="1"/>
          <p:nvPr/>
        </p:nvSpPr>
        <p:spPr>
          <a:xfrm>
            <a:off x="4654296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우리 1년차 매출 예상</a:t>
            </a:r>
            <a:endParaRPr lang="en-US" sz="1600" dirty="0"/>
          </a:p>
        </p:txBody>
      </p:sp>
      <p:sp>
        <p:nvSpPr>
          <p:cNvPr id="15" name="요약 설명 2"/>
          <p:cNvSpPr txBox="1"/>
          <p:nvPr/>
        </p:nvSpPr>
        <p:spPr>
          <a:xfrm>
            <a:off x="4654296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1만 대 × 9만원. 2년차 영업이익 흑자 전환, 3년차 매출 54억원(영업이익률 약 12%).</a:t>
            </a:r>
            <a:endParaRPr lang="en-US" sz="1400" dirty="0"/>
          </a:p>
        </p:txBody>
      </p:sp>
      <p:sp>
        <p:nvSpPr>
          <p:cNvPr id="16" name="요약 카드 3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요약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8" name="요약 3 아이콘" descr="요약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요약 숫자 3"/>
          <p:cNvSpPr txBox="1"/>
          <p:nvPr/>
        </p:nvSpPr>
        <p:spPr>
          <a:xfrm>
            <a:off x="8439912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0.5%</a:t>
            </a:r>
            <a:endParaRPr lang="en-US" sz="4000" dirty="0"/>
          </a:p>
        </p:txBody>
      </p:sp>
      <p:sp>
        <p:nvSpPr>
          <p:cNvPr id="20" name="요약 라벨 3"/>
          <p:cNvSpPr txBox="1"/>
          <p:nvPr/>
        </p:nvSpPr>
        <p:spPr>
          <a:xfrm>
            <a:off x="8439912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사회 환원 제안: 매출의 0.5%</a:t>
            </a:r>
            <a:endParaRPr lang="en-US" sz="1600" dirty="0"/>
          </a:p>
        </p:txBody>
      </p:sp>
      <p:sp>
        <p:nvSpPr>
          <p:cNvPr id="21" name="요약 설명 3"/>
          <p:cNvSpPr txBox="1"/>
          <p:nvPr/>
        </p:nvSpPr>
        <p:spPr>
          <a:xfrm>
            <a:off x="8439912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평균(0.2%)의 2.5배. 영업이익률 10% 이상이면 1%로 상향합니다.</a:t>
            </a:r>
            <a:endParaRPr lang="en-US" sz="1400" dirty="0"/>
          </a:p>
        </p:txBody>
      </p:sp>
      <p:sp>
        <p:nvSpPr>
          <p:cNvPr id="22" name="요약 각주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모든 금액은 부가세 제외 기준(소비자가 99,000원 → 공급가 90,000원), 환율 1,400원/$ 가정입니다.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1부. 유사 제품과 시장 조사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같거나 비슷한 제품은 무엇이 있고, 1년에 얼마를 팔며, 돈이 어디에 쓰이는가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01</a:t>
            </a:r>
            <a:endParaRPr lang="en-US" sz="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 문제와 우리의 해법</a:t>
            </a:r>
            <a:endParaRPr lang="en-US" sz="3000" dirty="0"/>
          </a:p>
        </p:txBody>
      </p:sp>
      <p:sp>
        <p:nvSpPr>
          <p:cNvPr id="4" name="문제 제목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문제: 알람은 끄면 끝</a:t>
            </a:r>
            <a:endParaRPr lang="en-US" sz="2000" dirty="0"/>
          </a:p>
        </p:txBody>
      </p:sp>
      <p:sp>
        <p:nvSpPr>
          <p:cNvPr id="5" name="문제 카드 1"/>
          <p:cNvSpPr/>
          <p:nvPr/>
        </p:nvSpPr>
        <p:spPr>
          <a:xfrm>
            <a:off x="548640" y="21031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문제 1 원"/>
          <p:cNvSpPr/>
          <p:nvPr/>
        </p:nvSpPr>
        <p:spPr>
          <a:xfrm>
            <a:off x="777240" y="235915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문제 1 아이콘" descr="문제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19172"/>
            <a:ext cx="320040" cy="320040"/>
          </a:xfrm>
          <a:prstGeom prst="rect">
            <a:avLst/>
          </a:prstGeom>
        </p:spPr>
      </p:pic>
      <p:sp>
        <p:nvSpPr>
          <p:cNvPr id="8" name="문제 제목 1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알람이 울린다</a:t>
            </a:r>
            <a:endParaRPr lang="en-US" sz="1600" dirty="0"/>
          </a:p>
        </p:txBody>
      </p:sp>
      <p:sp>
        <p:nvSpPr>
          <p:cNvPr id="9" name="문제 설명 1"/>
          <p:cNvSpPr txBox="1"/>
          <p:nvPr/>
        </p:nvSpPr>
        <p:spPr>
          <a:xfrm>
            <a:off x="1645920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소리는 손쉽게 끌 수 있습니다</a:t>
            </a:r>
            <a:endParaRPr lang="en-US" sz="1400" dirty="0"/>
          </a:p>
        </p:txBody>
      </p:sp>
      <p:sp>
        <p:nvSpPr>
          <p:cNvPr id="10" name="문제 카드 2"/>
          <p:cNvSpPr/>
          <p:nvPr/>
        </p:nvSpPr>
        <p:spPr>
          <a:xfrm>
            <a:off x="548640" y="342900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문제 2 원"/>
          <p:cNvSpPr/>
          <p:nvPr/>
        </p:nvSpPr>
        <p:spPr>
          <a:xfrm>
            <a:off x="777240" y="368503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문제 2 아이콘" descr="문제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845052"/>
            <a:ext cx="320040" cy="320040"/>
          </a:xfrm>
          <a:prstGeom prst="rect">
            <a:avLst/>
          </a:prstGeom>
        </p:spPr>
      </p:pic>
      <p:sp>
        <p:nvSpPr>
          <p:cNvPr id="13" name="문제 제목 2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끄고 다시 잔다</a:t>
            </a:r>
            <a:endParaRPr lang="en-US" sz="1600" dirty="0"/>
          </a:p>
        </p:txBody>
      </p:sp>
      <p:sp>
        <p:nvSpPr>
          <p:cNvPr id="14" name="문제 설명 2"/>
          <p:cNvSpPr txBox="1"/>
          <p:nvPr/>
        </p:nvSpPr>
        <p:spPr>
          <a:xfrm>
            <a:off x="164592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스누즈를 반복하며 시간이 흐릅니다</a:t>
            </a:r>
            <a:endParaRPr lang="en-US" sz="1400" dirty="0"/>
          </a:p>
        </p:txBody>
      </p:sp>
      <p:sp>
        <p:nvSpPr>
          <p:cNvPr id="15" name="문제 카드 3"/>
          <p:cNvSpPr/>
          <p:nvPr/>
        </p:nvSpPr>
        <p:spPr>
          <a:xfrm>
            <a:off x="548640" y="475488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문제 3 원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문제 3 아이콘" descr="문제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18" name="문제 제목 3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늦잠으로 이어진다</a:t>
            </a:r>
            <a:endParaRPr lang="en-US" sz="1600" dirty="0"/>
          </a:p>
        </p:txBody>
      </p:sp>
      <p:sp>
        <p:nvSpPr>
          <p:cNvPr id="19" name="문제 설명 3"/>
          <p:cNvSpPr txBox="1"/>
          <p:nvPr/>
        </p:nvSpPr>
        <p:spPr>
          <a:xfrm>
            <a:off x="1645920" y="53766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지각과 서두름으로 하루가 꼬입니다</a:t>
            </a:r>
            <a:endParaRPr lang="en-US" sz="1400" dirty="0"/>
          </a:p>
        </p:txBody>
      </p:sp>
      <p:sp>
        <p:nvSpPr>
          <p:cNvPr id="20" name="해법 카드"/>
          <p:cNvSpPr/>
          <p:nvPr/>
        </p:nvSpPr>
        <p:spPr>
          <a:xfrm>
            <a:off x="5852160" y="1463040"/>
            <a:ext cx="57881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해법 제목"/>
          <p:cNvSpPr txBox="1"/>
          <p:nvPr/>
        </p:nvSpPr>
        <p:spPr>
          <a:xfrm>
            <a:off x="62179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해법: 베개 속 손이 깨운다</a:t>
            </a:r>
            <a:endParaRPr lang="en-US" sz="2000" dirty="0"/>
          </a:p>
        </p:txBody>
      </p:sp>
      <p:sp>
        <p:nvSpPr>
          <p:cNvPr id="22" name="해법 번호 원 1"/>
          <p:cNvSpPr/>
          <p:nvPr/>
        </p:nvSpPr>
        <p:spPr>
          <a:xfrm>
            <a:off x="6217920" y="24688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해법 번호 1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해법 설명 1"/>
          <p:cNvSpPr txBox="1"/>
          <p:nvPr/>
        </p:nvSpPr>
        <p:spPr>
          <a:xfrm>
            <a:off x="6858000" y="2423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앱 또는 베개 버튼으로 기상 시각 설정</a:t>
            </a:r>
            <a:endParaRPr lang="en-US" sz="1500" dirty="0"/>
          </a:p>
        </p:txBody>
      </p:sp>
      <p:sp>
        <p:nvSpPr>
          <p:cNvPr id="25" name="해법 번호 원 2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해법 번호 2"/>
          <p:cNvSpPr txBox="1"/>
          <p:nvPr/>
        </p:nvSpPr>
        <p:spPr>
          <a:xfrm>
            <a:off x="6217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해법 설명 2"/>
          <p:cNvSpPr txBox="1"/>
          <p:nvPr/>
        </p:nvSpPr>
        <p:spPr>
          <a:xfrm>
            <a:off x="685800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시각이 되면 베개 옆면에서 부드러운 실리콘 손이 나와 어깨를 톡톡</a:t>
            </a:r>
            <a:endParaRPr lang="en-US" sz="1500" dirty="0"/>
          </a:p>
        </p:txBody>
      </p:sp>
      <p:sp>
        <p:nvSpPr>
          <p:cNvPr id="28" name="해법 번호 원 3"/>
          <p:cNvSpPr/>
          <p:nvPr/>
        </p:nvSpPr>
        <p:spPr>
          <a:xfrm>
            <a:off x="6217920" y="42062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해법 번호 3"/>
          <p:cNvSpPr txBox="1"/>
          <p:nvPr/>
        </p:nvSpPr>
        <p:spPr>
          <a:xfrm>
            <a:off x="6217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해법 설명 3"/>
          <p:cNvSpPr txBox="1"/>
          <p:nvPr/>
        </p:nvSpPr>
        <p:spPr>
          <a:xfrm>
            <a:off x="68580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일어나 머리를 떼면 압력 센서가 감지해 손이 들어감</a:t>
            </a:r>
            <a:endParaRPr lang="en-US" sz="1500" dirty="0"/>
          </a:p>
        </p:txBody>
      </p:sp>
      <p:sp>
        <p:nvSpPr>
          <p:cNvPr id="31" name="해법 번호 원 4"/>
          <p:cNvSpPr/>
          <p:nvPr/>
        </p:nvSpPr>
        <p:spPr>
          <a:xfrm>
            <a:off x="6217920" y="50749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해법 번호 4"/>
          <p:cNvSpPr txBox="1"/>
          <p:nvPr/>
        </p:nvSpPr>
        <p:spPr>
          <a:xfrm>
            <a:off x="62179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해법 설명 4"/>
          <p:cNvSpPr txBox="1"/>
          <p:nvPr/>
        </p:nvSpPr>
        <p:spPr>
          <a:xfrm>
            <a:off x="68580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약하게 시작해 점점 강해지는 단계별 강도, 안전 정지 기능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유사 제품은 무엇이 있나</a:t>
            </a:r>
            <a:endParaRPr lang="en-US" sz="3000" dirty="0"/>
          </a:p>
        </p:txBody>
      </p:sp>
      <p:graphicFrame>
        <p:nvGraphicFramePr>
          <p:cNvPr id="6" name="경쟁 제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1920240"/>
                <a:gridCol w="2468880"/>
                <a:gridCol w="213055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깨우는 방식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판매·규모 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우리와의 차이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(구르는 알람시계)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바퀴로 도망가는 시계를 쫓아가 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출시가 약 $50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2012년 인터뷰에서 누적 50만 대 이상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소리와 추격 vs 촉각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Sonic Bomb + 침대 진동기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큰 소리와 침대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진동기 $17.99~, 세트 $44.99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판매량 비공개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움직임 없는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Restore 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빛과 소리로 점진적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$169.99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월 약 5,000대(판매순위 사이트, 미검증)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고가 조명형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Wake-up Machine (Simone Giertz)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고무 팔이 얼굴을 때림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시판 안 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DIY 작품, 판매 없음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안전한 상용화 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경쟁 결론 카드"/>
          <p:cNvSpPr/>
          <p:nvPr/>
        </p:nvSpPr>
        <p:spPr>
          <a:xfrm>
            <a:off x="548640" y="516636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경쟁 결론"/>
          <p:cNvSpPr txBox="1"/>
          <p:nvPr/>
        </p:nvSpPr>
        <p:spPr>
          <a:xfrm>
            <a:off x="822960" y="5166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“베개에서 손이 나오는” 동일 상용 제품은 이번 조사에서 확인되지 않았습니다. 빈 틈 시장이지만, 유사 특허와 상표 조사는 추가로 필요합니다.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인접 시장은 빠르게 성장 중</a:t>
            </a:r>
            <a:endParaRPr lang="en-US" sz="3000" dirty="0"/>
          </a:p>
        </p:txBody>
      </p:sp>
      <p:sp>
        <p:nvSpPr>
          <p:cNvPr id="4" name="시장 카드 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시장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시장 1 아이콘" descr="시장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시장 숫자 1"/>
          <p:cNvSpPr txBox="1"/>
          <p:nvPr/>
        </p:nvSpPr>
        <p:spPr>
          <a:xfrm>
            <a:off x="86868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$13.2억 → $25.2억</a:t>
            </a:r>
            <a:endParaRPr lang="en-US" sz="2100" dirty="0"/>
          </a:p>
        </p:txBody>
      </p:sp>
      <p:sp>
        <p:nvSpPr>
          <p:cNvPr id="8" name="시장 라벨 1"/>
          <p:cNvSpPr txBox="1"/>
          <p:nvPr/>
        </p:nvSpPr>
        <p:spPr>
          <a:xfrm>
            <a:off x="86868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 시장</a:t>
            </a:r>
            <a:endParaRPr lang="en-US" sz="1600" dirty="0"/>
          </a:p>
        </p:txBody>
      </p:sp>
      <p:sp>
        <p:nvSpPr>
          <p:cNvPr id="9" name="시장 설명 1"/>
          <p:cNvSpPr txBox="1"/>
          <p:nvPr/>
        </p:nvSpPr>
        <p:spPr>
          <a:xfrm>
            <a:off x="868680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2029년 전망, 연평균 약 17.6% 성장 (The Business Research Company)</a:t>
            </a:r>
            <a:endParaRPr lang="en-US" sz="1400" dirty="0"/>
          </a:p>
        </p:txBody>
      </p:sp>
      <p:sp>
        <p:nvSpPr>
          <p:cNvPr id="10" name="시장 카드 2"/>
          <p:cNvSpPr/>
          <p:nvPr/>
        </p:nvSpPr>
        <p:spPr>
          <a:xfrm>
            <a:off x="4334256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장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장 2 아이콘" descr="시장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시장 숫자 2"/>
          <p:cNvSpPr txBox="1"/>
          <p:nvPr/>
        </p:nvSpPr>
        <p:spPr>
          <a:xfrm>
            <a:off x="4654296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+$9.4억</a:t>
            </a:r>
            <a:endParaRPr lang="en-US" sz="2100" dirty="0"/>
          </a:p>
        </p:txBody>
      </p:sp>
      <p:sp>
        <p:nvSpPr>
          <p:cNvPr id="14" name="시장 라벨 2"/>
          <p:cNvSpPr txBox="1"/>
          <p:nvPr/>
        </p:nvSpPr>
        <p:spPr>
          <a:xfrm>
            <a:off x="4654296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베개 시장</a:t>
            </a:r>
            <a:endParaRPr lang="en-US" sz="1600" dirty="0"/>
          </a:p>
        </p:txBody>
      </p:sp>
      <p:sp>
        <p:nvSpPr>
          <p:cNvPr id="15" name="시장 설명 2"/>
          <p:cNvSpPr txBox="1"/>
          <p:nvPr/>
        </p:nvSpPr>
        <p:spPr>
          <a:xfrm>
            <a:off x="4654296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2024~2029년 증가분 전망, 연평균 21.1% 성장 (Technavio)</a:t>
            </a:r>
            <a:endParaRPr lang="en-US" sz="1400" dirty="0"/>
          </a:p>
        </p:txBody>
      </p:sp>
      <p:sp>
        <p:nvSpPr>
          <p:cNvPr id="16" name="시장 카드 3"/>
          <p:cNvSpPr/>
          <p:nvPr/>
        </p:nvSpPr>
        <p:spPr>
          <a:xfrm>
            <a:off x="8119872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시장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시장 3 아이콘" descr="시장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시장 숫자 3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$7.7억 → $18.2억</a:t>
            </a:r>
            <a:endParaRPr lang="en-US" sz="2100" dirty="0"/>
          </a:p>
        </p:txBody>
      </p:sp>
      <p:sp>
        <p:nvSpPr>
          <p:cNvPr id="20" name="시장 라벨 3"/>
          <p:cNvSpPr txBox="1"/>
          <p:nvPr/>
        </p:nvSpPr>
        <p:spPr>
          <a:xfrm>
            <a:off x="8439912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클락(다른 집계)</a:t>
            </a:r>
            <a:endParaRPr lang="en-US" sz="1600" dirty="0"/>
          </a:p>
        </p:txBody>
      </p:sp>
      <p:sp>
        <p:nvSpPr>
          <p:cNvPr id="21" name="시장 설명 3"/>
          <p:cNvSpPr txBox="1"/>
          <p:nvPr/>
        </p:nvSpPr>
        <p:spPr>
          <a:xfrm>
            <a:off x="8439912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2031년 전망, 연평균 15.35% (TechSci Research)</a:t>
            </a:r>
            <a:endParaRPr lang="en-US" sz="1400" dirty="0"/>
          </a:p>
        </p:txBody>
      </p:sp>
      <p:sp>
        <p:nvSpPr>
          <p:cNvPr id="22" name="시장 각주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시장조사 업체의 전망치는 정의와 기준 연도가 달라 서로 비교할 수 없으며, 성장률이 부풀려져 있을 수 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제품의 1년 매출 추정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6692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산식 카드 1"/>
          <p:cNvSpPr/>
          <p:nvPr/>
        </p:nvSpPr>
        <p:spPr>
          <a:xfrm>
            <a:off x="6492240" y="1463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산식 이름 1"/>
          <p:cNvSpPr txBox="1"/>
          <p:nvPr/>
        </p:nvSpPr>
        <p:spPr>
          <a:xfrm>
            <a:off x="68122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Clocky형</a:t>
            </a:r>
            <a:endParaRPr lang="en-US" sz="1600" dirty="0"/>
          </a:p>
        </p:txBody>
      </p:sp>
      <p:sp>
        <p:nvSpPr>
          <p:cNvPr id="7" name="산식 결과 1"/>
          <p:cNvSpPr txBox="1"/>
          <p:nvPr/>
        </p:nvSpPr>
        <p:spPr>
          <a:xfrm>
            <a:off x="681228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≈ $4.0M (약 56억원)</a:t>
            </a:r>
            <a:endParaRPr lang="en-US" sz="2600" dirty="0"/>
          </a:p>
        </p:txBody>
      </p:sp>
      <p:sp>
        <p:nvSpPr>
          <p:cNvPr id="8" name="산식 근거 1"/>
          <p:cNvSpPr txBox="1"/>
          <p:nvPr/>
        </p:nvSpPr>
        <p:spPr>
          <a:xfrm>
            <a:off x="681228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누적 50만 대 ÷ 약 6년 ≈ 연 8만 대 × $50</a:t>
            </a:r>
            <a:endParaRPr lang="en-US" sz="1400" dirty="0"/>
          </a:p>
        </p:txBody>
      </p:sp>
      <p:sp>
        <p:nvSpPr>
          <p:cNvPr id="9" name="산식 카드 2"/>
          <p:cNvSpPr/>
          <p:nvPr/>
        </p:nvSpPr>
        <p:spPr>
          <a:xfrm>
            <a:off x="6492240" y="3749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산식 이름 2"/>
          <p:cNvSpPr txBox="1"/>
          <p:nvPr/>
        </p:nvSpPr>
        <p:spPr>
          <a:xfrm>
            <a:off x="681228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Hatch형</a:t>
            </a:r>
            <a:endParaRPr lang="en-US" sz="1600" dirty="0"/>
          </a:p>
        </p:txBody>
      </p:sp>
      <p:sp>
        <p:nvSpPr>
          <p:cNvPr id="11" name="산식 결과 2"/>
          <p:cNvSpPr txBox="1"/>
          <p:nvPr/>
        </p:nvSpPr>
        <p:spPr>
          <a:xfrm>
            <a:off x="6812280" y="4389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≈ $10.2M (약 143억원)</a:t>
            </a:r>
            <a:endParaRPr lang="en-US" sz="2600" dirty="0"/>
          </a:p>
        </p:txBody>
      </p:sp>
      <p:sp>
        <p:nvSpPr>
          <p:cNvPr id="12" name="산식 근거 2"/>
          <p:cNvSpPr txBox="1"/>
          <p:nvPr/>
        </p:nvSpPr>
        <p:spPr>
          <a:xfrm>
            <a:off x="6812280" y="5029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월 5,000대 × 12개월 × $169.99 (판매순위 사이트, 미검증)</a:t>
            </a:r>
            <a:endParaRPr lang="en-US" sz="1400" dirty="0"/>
          </a:p>
        </p:txBody>
      </p:sp>
      <p:sp>
        <p:nvSpPr>
          <p:cNvPr id="13" name="매출 각주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Sonic Alert는 판매량이 공개되지 않아 매출을 추정하지 않았습니다.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 비용 구조 분석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212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비용 구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60527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65376"/>
                <a:gridCol w="18653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Clocky형 ($4.0M)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Hatch형 ($10.2M)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$0.96M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22% · $2.24M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6% · $0.24M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 · $0.41M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7% · $0.28M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 · $0.51M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 · $1.00M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15% · $1.53M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12% · $0.48M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20% · $2.04M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연구개발·관리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16% · $0.64M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$2.45M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$0.40M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$1.02M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비용 근거 카드"/>
          <p:cNvSpPr/>
          <p:nvPr/>
        </p:nvSpPr>
        <p:spPr>
          <a:xfrm>
            <a:off x="6035040" y="5120640"/>
            <a:ext cx="5605272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비용 근거"/>
          <p:cNvSpPr txBox="1"/>
          <p:nvPr/>
        </p:nvSpPr>
        <p:spPr>
          <a:xfrm>
            <a:off x="6263640" y="512064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참고 벤치마크: Kindle 2 분해 시 재료·제조비 ≈ 소비자가의 51%, 아마존 전자제품 수수료 8%, 전자제품 반품률 8~12%. 비중은 추정입니다.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분석에서 얻은 시사점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시사점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사점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시사점 1 아이콘" descr="시사점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시사점 제목 1"/>
          <p:cNvSpPr txBox="1"/>
          <p:nvPr/>
        </p:nvSpPr>
        <p:spPr>
          <a:xfrm>
            <a:off x="7498080" y="15087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제조원가는 소비자가의 1/3 선</a:t>
            </a:r>
            <a:endParaRPr lang="en-US" sz="1500" dirty="0"/>
          </a:p>
        </p:txBody>
      </p:sp>
      <p:sp>
        <p:nvSpPr>
          <p:cNvPr id="9" name="시사점 설명 1"/>
          <p:cNvSpPr txBox="1"/>
          <p:nvPr/>
        </p:nvSpPr>
        <p:spPr>
          <a:xfrm>
            <a:off x="7498080" y="190195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재료비와 제작 인건비가 소비자가의 약 30%일 때 마케팅과 개발비를 감당할 수 있습니다.</a:t>
            </a:r>
            <a:endParaRPr lang="en-US" sz="1300" dirty="0"/>
          </a:p>
        </p:txBody>
      </p:sp>
      <p:sp>
        <p:nvSpPr>
          <p:cNvPr id="10" name="시사점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사점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사점 2 아이콘" descr="시사점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시사점 제목 2"/>
          <p:cNvSpPr txBox="1"/>
          <p:nvPr/>
        </p:nvSpPr>
        <p:spPr>
          <a:xfrm>
            <a:off x="7498080" y="3063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유통 마진이 이익을 갉아먹는다</a:t>
            </a:r>
            <a:endParaRPr lang="en-US" sz="1500" dirty="0"/>
          </a:p>
        </p:txBody>
      </p:sp>
      <p:sp>
        <p:nvSpPr>
          <p:cNvPr id="14" name="시사점 설명 2"/>
          <p:cNvSpPr txBox="1"/>
          <p:nvPr/>
        </p:nvSpPr>
        <p:spPr>
          <a:xfrm>
            <a:off x="7498080" y="34564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자사몰과 크라우드펀딩 비중을 높여 판매 수수료를 평균 11%로 낮춥니다.</a:t>
            </a:r>
            <a:endParaRPr lang="en-US" sz="1300" dirty="0"/>
          </a:p>
        </p:txBody>
      </p:sp>
      <p:sp>
        <p:nvSpPr>
          <p:cNvPr id="15" name="시사점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시사점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시사점 3 아이콘" descr="시사점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시사점 제목 3"/>
          <p:cNvSpPr txBox="1"/>
          <p:nvPr/>
        </p:nvSpPr>
        <p:spPr>
          <a:xfrm>
            <a:off x="7498080" y="46177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가격은 $50과 $170 사이</a:t>
            </a:r>
            <a:endParaRPr lang="en-US" sz="1500" dirty="0"/>
          </a:p>
        </p:txBody>
      </p:sp>
      <p:sp>
        <p:nvSpPr>
          <p:cNvPr id="19" name="시사점 설명 3"/>
          <p:cNvSpPr txBox="1"/>
          <p:nvPr/>
        </p:nvSpPr>
        <p:spPr>
          <a:xfrm>
            <a:off x="7498080" y="50109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새로운 경험에 프리미엄을 받되, 고가 조명형보다는 접근하기 쉬운 9.9만원으로 잡습니다.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2부. 우리 제품의 연간 매출 예상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1대당 손익, 1년차 시나리오, 3개년 전망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02</a:t>
            </a:r>
            <a:endParaRPr lang="en-US" sz="8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우리 제품 1대당 손익</a:t>
            </a:r>
            <a:endParaRPr lang="en-US" sz="3000" dirty="0"/>
          </a:p>
        </p:txBody>
      </p:sp>
      <p:graphicFrame>
        <p:nvGraphicFramePr>
          <p:cNvPr id="12" name="단위 경제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금액(원)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공급가 대비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소비자가 (부가세 포함)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공급가 (부가세 제외)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(BOM)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 (OEM 조립)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인증·품질관리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제조원가 소계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반품·AS 충당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 (고정비 차감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핵심 숫자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핵심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99,000원</a:t>
            </a:r>
            <a:endParaRPr lang="en-US" sz="3200" dirty="0"/>
          </a:p>
        </p:txBody>
      </p:sp>
      <p:sp>
        <p:nvSpPr>
          <p:cNvPr id="7" name="핵심 숫자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소비자가 (부가세 포함)</a:t>
            </a:r>
            <a:endParaRPr lang="en-US" sz="1400" dirty="0"/>
          </a:p>
        </p:txBody>
      </p:sp>
      <p:sp>
        <p:nvSpPr>
          <p:cNvPr id="8" name="핵심 숫자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핵심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45,500원</a:t>
            </a:r>
            <a:endParaRPr lang="en-US" sz="3200" dirty="0"/>
          </a:p>
        </p:txBody>
      </p:sp>
      <p:sp>
        <p:nvSpPr>
          <p:cNvPr id="10" name="핵심 숫자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제조원가 (공급가의 50.6%)</a:t>
            </a:r>
            <a:endParaRPr lang="en-US" sz="1400" dirty="0"/>
          </a:p>
        </p:txBody>
      </p:sp>
      <p:sp>
        <p:nvSpPr>
          <p:cNvPr id="11" name="핵심 숫자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핵심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17,500원</a:t>
            </a:r>
            <a:endParaRPr lang="en-US" sz="3200" dirty="0"/>
          </a:p>
        </p:txBody>
      </p:sp>
      <p:sp>
        <p:nvSpPr>
          <p:cNvPr id="13" name="핵심 숫자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1대당 공헌이익 (19.4%)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원가의 핵심: 부품 8종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6692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도넛 중앙 텍스트"/>
          <p:cNvSpPr txBox="1"/>
          <p:nvPr/>
        </p:nvSpPr>
        <p:spPr>
          <a:xfrm>
            <a:off x="2240280" y="2743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재료비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34,000원</a:t>
            </a:r>
            <a:endParaRPr lang="en-US" sz="2000" dirty="0"/>
          </a:p>
        </p:txBody>
      </p:sp>
      <p:graphicFrame>
        <p:nvGraphicFramePr>
          <p:cNvPr id="13" name="부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부품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단가(원)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베개 본체 (폼·커버)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모터·링크 (서보)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배터리·충전회로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MCU·블루투스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하우징·PCB·부자재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실리콘 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(압력·IMU)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원가 가정 카드"/>
          <p:cNvSpPr/>
          <p:nvPr/>
        </p:nvSpPr>
        <p:spPr>
          <a:xfrm>
            <a:off x="6492240" y="5074920"/>
            <a:ext cx="51480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8" name="원가 가정"/>
          <p:cNvSpPr txBox="1"/>
          <p:nvPr/>
        </p:nvSpPr>
        <p:spPr>
          <a:xfrm>
            <a:off x="6720840" y="50749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가정: 국내 설계, 국내·중국 OEM 조립, 초도 1만 대. 제조원가 1년차 45,500원 → 2년차 42,000원 → 3년차 39,500원.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1년차 매출 예상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7665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시나리오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나리오 이름 1"/>
          <p:cNvSpPr txBox="1"/>
          <p:nvPr/>
        </p:nvSpPr>
        <p:spPr>
          <a:xfrm>
            <a:off x="79552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보수안 · 5,000대</a:t>
            </a:r>
            <a:endParaRPr lang="en-US" sz="1600" dirty="0"/>
          </a:p>
        </p:txBody>
      </p:sp>
      <p:sp>
        <p:nvSpPr>
          <p:cNvPr id="7" name="시나리오 매출 1"/>
          <p:cNvSpPr txBox="1"/>
          <p:nvPr/>
        </p:nvSpPr>
        <p:spPr>
          <a:xfrm>
            <a:off x="795528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4.5억원</a:t>
            </a:r>
            <a:endParaRPr lang="en-US" sz="2000" dirty="0"/>
          </a:p>
        </p:txBody>
      </p:sp>
      <p:sp>
        <p:nvSpPr>
          <p:cNvPr id="8" name="시나리오 손익 1"/>
          <p:cNvSpPr txBox="1"/>
          <p:nvPr/>
        </p:nvSpPr>
        <p:spPr>
          <a:xfrm>
            <a:off x="79552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-2.6억원</a:t>
            </a:r>
            <a:endParaRPr lang="en-US" sz="1400" dirty="0"/>
          </a:p>
        </p:txBody>
      </p:sp>
      <p:sp>
        <p:nvSpPr>
          <p:cNvPr id="9" name="시나리오 카드 2"/>
          <p:cNvSpPr/>
          <p:nvPr/>
        </p:nvSpPr>
        <p:spPr>
          <a:xfrm>
            <a:off x="7680960" y="28803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시나리오 이름 2"/>
          <p:cNvSpPr txBox="1"/>
          <p:nvPr/>
        </p:nvSpPr>
        <p:spPr>
          <a:xfrm>
            <a:off x="79552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기본안 · 10,000대</a:t>
            </a:r>
            <a:endParaRPr lang="en-US" sz="1600" dirty="0"/>
          </a:p>
        </p:txBody>
      </p:sp>
      <p:sp>
        <p:nvSpPr>
          <p:cNvPr id="11" name="시나리오 매출 2"/>
          <p:cNvSpPr txBox="1"/>
          <p:nvPr/>
        </p:nvSpPr>
        <p:spPr>
          <a:xfrm>
            <a:off x="795528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매출 9.0억원</a:t>
            </a:r>
            <a:endParaRPr lang="en-US" sz="2000" dirty="0"/>
          </a:p>
        </p:txBody>
      </p:sp>
      <p:sp>
        <p:nvSpPr>
          <p:cNvPr id="12" name="시나리오 손익 2"/>
          <p:cNvSpPr txBox="1"/>
          <p:nvPr/>
        </p:nvSpPr>
        <p:spPr>
          <a:xfrm>
            <a:off x="7955280" y="3794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영업손익 약 -1.75억원</a:t>
            </a:r>
            <a:endParaRPr lang="en-US" sz="1400" dirty="0"/>
          </a:p>
        </p:txBody>
      </p:sp>
      <p:sp>
        <p:nvSpPr>
          <p:cNvPr id="13" name="시나리오 카드 3"/>
          <p:cNvSpPr/>
          <p:nvPr/>
        </p:nvSpPr>
        <p:spPr>
          <a:xfrm>
            <a:off x="7680960" y="438912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시나리오 이름 3"/>
          <p:cNvSpPr txBox="1"/>
          <p:nvPr/>
        </p:nvSpPr>
        <p:spPr>
          <a:xfrm>
            <a:off x="795528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낙관안 · 20,000대</a:t>
            </a:r>
            <a:endParaRPr lang="en-US" sz="1600" dirty="0"/>
          </a:p>
        </p:txBody>
      </p:sp>
      <p:sp>
        <p:nvSpPr>
          <p:cNvPr id="15" name="시나리오 매출 3"/>
          <p:cNvSpPr txBox="1"/>
          <p:nvPr/>
        </p:nvSpPr>
        <p:spPr>
          <a:xfrm>
            <a:off x="795528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18억원</a:t>
            </a:r>
            <a:endParaRPr lang="en-US" sz="2000" dirty="0"/>
          </a:p>
        </p:txBody>
      </p:sp>
      <p:sp>
        <p:nvSpPr>
          <p:cNvPr id="16" name="시나리오 손익 3"/>
          <p:cNvSpPr txBox="1"/>
          <p:nvPr/>
        </p:nvSpPr>
        <p:spPr>
          <a:xfrm>
            <a:off x="7955280" y="5303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0 (손익분기)</a:t>
            </a:r>
            <a:endParaRPr lang="en-US" sz="1400" dirty="0"/>
          </a:p>
        </p:txBody>
      </p:sp>
      <p:sp>
        <p:nvSpPr>
          <p:cNvPr id="17" name="1년차 각주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크라우드펀딩 선판매로 수요를 확인한 뒤 정식 판매를 늘려가는 경로를 가정했습니다. 손익분기 판매량은 1년차 비용 구조 기준 약 2만 대입니다.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매출·이익 전망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전망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전망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54억원</a:t>
            </a:r>
            <a:endParaRPr lang="en-US" sz="3200" dirty="0"/>
          </a:p>
        </p:txBody>
      </p:sp>
      <p:sp>
        <p:nvSpPr>
          <p:cNvPr id="7" name="전망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3년차 매출 (6만 대)</a:t>
            </a:r>
            <a:endParaRPr lang="en-US" sz="1400" dirty="0"/>
          </a:p>
        </p:txBody>
      </p:sp>
      <p:sp>
        <p:nvSpPr>
          <p:cNvPr id="8" name="전망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전망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2년차</a:t>
            </a:r>
            <a:endParaRPr lang="en-US" sz="3200" dirty="0"/>
          </a:p>
        </p:txBody>
      </p:sp>
      <p:sp>
        <p:nvSpPr>
          <p:cNvPr id="10" name="전망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영업이익 흑자 전환 (+1.14억원)</a:t>
            </a:r>
            <a:endParaRPr lang="en-US" sz="1400" dirty="0"/>
          </a:p>
        </p:txBody>
      </p:sp>
      <p:sp>
        <p:nvSpPr>
          <p:cNvPr id="11" name="전망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전망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11.6%</a:t>
            </a:r>
            <a:endParaRPr lang="en-US" sz="3200" dirty="0"/>
          </a:p>
        </p:txBody>
      </p:sp>
      <p:sp>
        <p:nvSpPr>
          <p:cNvPr id="13" name="전망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손익 요약</a:t>
            </a:r>
            <a:endParaRPr lang="en-US" sz="3000" dirty="0"/>
          </a:p>
        </p:txBody>
      </p:sp>
      <p:graphicFrame>
        <p:nvGraphicFramePr>
          <p:cNvPr id="16" name="손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12264"/>
                <a:gridCol w="2112264"/>
                <a:gridCol w="2112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대수 (대)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27.00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54.00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제조원가 (재료·인건비·물류·인증)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판매비 (수수료·마케팅·반품)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고정비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영업이익률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고정비 구성 카드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고정비 구성"/>
          <p:cNvSpPr txBox="1"/>
          <p:nvPr/>
        </p:nvSpPr>
        <p:spPr>
          <a:xfrm>
            <a:off x="777240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1년차 고정비 3.5억원: 인건비 2.0억(5명) · 임차·운영 0.3억 · 금형·개발·인증 0.9억 · 기타 0.3억</a:t>
            </a:r>
            <a:endParaRPr lang="en-US" sz="1300" dirty="0"/>
          </a:p>
        </p:txBody>
      </p:sp>
      <p:sp>
        <p:nvSpPr>
          <p:cNvPr id="7" name="자금 카드"/>
          <p:cNvSpPr/>
          <p:nvPr/>
        </p:nvSpPr>
        <p:spPr>
          <a:xfrm>
            <a:off x="6199632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자금 설명"/>
          <p:cNvSpPr txBox="1"/>
          <p:nvPr/>
        </p:nvSpPr>
        <p:spPr>
          <a:xfrm>
            <a:off x="6428232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초기 필요 자금 약 4~5억원(추정): 1년차 적자 1.75억원과 초도 재고 운전자금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3부. 수익의 몇 %를 사회에 환원할까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제품 기부, 후원금, 재능기부, 봉사를 포함한 환원 비율 제안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03</a:t>
            </a:r>
            <a:endParaRPr lang="en-US" sz="8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기부는 얼마가 적당한가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벤치마크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벤치마크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벤치마크 1 아이콘" descr="벤치마크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벤치마크 제목 1"/>
          <p:cNvSpPr txBox="1"/>
          <p:nvPr/>
        </p:nvSpPr>
        <p:spPr>
          <a:xfrm>
            <a:off x="7498080" y="14813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국내 평균</a:t>
            </a:r>
            <a:endParaRPr lang="en-US" sz="1500" dirty="0"/>
          </a:p>
        </p:txBody>
      </p:sp>
      <p:sp>
        <p:nvSpPr>
          <p:cNvPr id="9" name="벤치마크 설명 1"/>
          <p:cNvSpPr txBox="1"/>
          <p:nvPr/>
        </p:nvSpPr>
        <p:spPr>
          <a:xfrm>
            <a:off x="7498080" y="18288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매출 대비 약 0.2%, 세전이익 대비 약 3~4% (전경련 조사, 2009~2015년)</a:t>
            </a:r>
            <a:endParaRPr lang="en-US" sz="1200" dirty="0"/>
          </a:p>
        </p:txBody>
      </p:sp>
      <p:sp>
        <p:nvSpPr>
          <p:cNvPr id="10" name="벤치마크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벤치마크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벤치마크 2 아이콘" descr="벤치마크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벤치마크 제목 2"/>
          <p:cNvSpPr txBox="1"/>
          <p:nvPr/>
        </p:nvSpPr>
        <p:spPr>
          <a:xfrm>
            <a:off x="7498080" y="30358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해외 사례</a:t>
            </a:r>
            <a:endParaRPr lang="en-US" sz="1500" dirty="0"/>
          </a:p>
        </p:txBody>
      </p:sp>
      <p:sp>
        <p:nvSpPr>
          <p:cNvPr id="14" name="벤치마크 설명 2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Patagonia는 매출의 1%를 환경단체에 기부, 같은 약속을 하는 기업 연합 “1% for the Planet”</a:t>
            </a:r>
            <a:endParaRPr lang="en-US" sz="1200" dirty="0"/>
          </a:p>
        </p:txBody>
      </p:sp>
      <p:sp>
        <p:nvSpPr>
          <p:cNvPr id="15" name="벤치마크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벤치마크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벤치마크 3 아이콘" descr="벤치마크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벤치마크 제목 3"/>
          <p:cNvSpPr txBox="1"/>
          <p:nvPr/>
        </p:nvSpPr>
        <p:spPr>
          <a:xfrm>
            <a:off x="7498080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세법</a:t>
            </a:r>
            <a:endParaRPr lang="en-US" sz="1500" dirty="0"/>
          </a:p>
        </p:txBody>
      </p:sp>
      <p:sp>
        <p:nvSpPr>
          <p:cNvPr id="19" name="벤치마크 설명 3"/>
          <p:cNvSpPr txBox="1"/>
          <p:nvPr/>
        </p:nvSpPr>
        <p:spPr>
          <a:xfrm>
            <a:off x="7498080" y="4937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일반기부금은 소득금액의 10% 한도로 비용 인정, 초과분은 10년 이월. 현물은 장부가 평가 (2차 자료, 세무사 확인 필요)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제안: 매출의 0.5% 환원</a:t>
            </a:r>
            <a:endParaRPr lang="en-US" sz="3000" dirty="0"/>
          </a:p>
        </p:txBody>
      </p:sp>
      <p:sp>
        <p:nvSpPr>
          <p:cNvPr id="4" name="제안 카드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제안 앞글"/>
          <p:cNvSpPr txBox="1"/>
          <p:nvPr/>
        </p:nvSpPr>
        <p:spPr>
          <a:xfrm>
            <a:off x="8686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매출의</a:t>
            </a:r>
            <a:endParaRPr lang="en-US" sz="2000" dirty="0"/>
          </a:p>
        </p:txBody>
      </p:sp>
      <p:sp>
        <p:nvSpPr>
          <p:cNvPr id="6" name="제안 숫자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0.5%</a:t>
            </a:r>
            <a:endParaRPr lang="en-US" sz="8000" dirty="0"/>
          </a:p>
        </p:txBody>
      </p:sp>
      <p:sp>
        <p:nvSpPr>
          <p:cNvPr id="7" name="제안 상향 조건"/>
          <p:cNvSpPr txBox="1"/>
          <p:nvPr/>
        </p:nvSpPr>
        <p:spPr>
          <a:xfrm>
            <a:off x="86868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영업이익률이 10% 이상으로 유지되면 1%로 상향합니다.</a:t>
            </a:r>
            <a:endParaRPr lang="en-US" sz="1600" dirty="0"/>
          </a:p>
        </p:txBody>
      </p:sp>
      <p:sp>
        <p:nvSpPr>
          <p:cNvPr id="8" name="제안 이익 대비"/>
          <p:cNvSpPr txBox="1"/>
          <p:nvPr/>
        </p:nvSpPr>
        <p:spPr>
          <a:xfrm>
            <a:off x="868680" y="5029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3년차 기준 영업이익의 약 4.3%</a:t>
            </a:r>
            <a:endParaRPr lang="en-US" sz="1400" dirty="0"/>
          </a:p>
        </p:txBody>
      </p:sp>
      <p:sp>
        <p:nvSpPr>
          <p:cNvPr id="9" name="이유 카드 1"/>
          <p:cNvSpPr/>
          <p:nvPr/>
        </p:nvSpPr>
        <p:spPr>
          <a:xfrm>
            <a:off x="5029200" y="137160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이유 1 원"/>
          <p:cNvSpPr/>
          <p:nvPr/>
        </p:nvSpPr>
        <p:spPr>
          <a:xfrm>
            <a:off x="5257800" y="173736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1" name="이유 1 아이콘" descr="이유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897380"/>
            <a:ext cx="320040" cy="320040"/>
          </a:xfrm>
          <a:prstGeom prst="rect">
            <a:avLst/>
          </a:prstGeom>
        </p:spPr>
      </p:pic>
      <p:sp>
        <p:nvSpPr>
          <p:cNvPr id="12" name="이유 제목 1"/>
          <p:cNvSpPr txBox="1"/>
          <p:nvPr/>
        </p:nvSpPr>
        <p:spPr>
          <a:xfrm>
            <a:off x="6172200" y="1508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신뢰를 사는 수준</a:t>
            </a:r>
            <a:endParaRPr lang="en-US" sz="1600" dirty="0"/>
          </a:p>
        </p:txBody>
      </p:sp>
      <p:sp>
        <p:nvSpPr>
          <p:cNvPr id="13" name="이유 설명 1"/>
          <p:cNvSpPr txBox="1"/>
          <p:nvPr/>
        </p:nvSpPr>
        <p:spPr>
          <a:xfrm>
            <a:off x="6172200" y="19202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평균(0.2%)의 2.5배라 창업 초기 브랜드 약속으로 의미가 있습니다.</a:t>
            </a:r>
            <a:endParaRPr lang="en-US" sz="1400" dirty="0"/>
          </a:p>
        </p:txBody>
      </p:sp>
      <p:sp>
        <p:nvSpPr>
          <p:cNvPr id="14" name="이유 카드 2"/>
          <p:cNvSpPr/>
          <p:nvPr/>
        </p:nvSpPr>
        <p:spPr>
          <a:xfrm>
            <a:off x="5029200" y="292608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이유 2 원"/>
          <p:cNvSpPr/>
          <p:nvPr/>
        </p:nvSpPr>
        <p:spPr>
          <a:xfrm>
            <a:off x="5257800" y="329184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6" name="이유 2 아이콘" descr="이유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3451860"/>
            <a:ext cx="320040" cy="320040"/>
          </a:xfrm>
          <a:prstGeom prst="rect">
            <a:avLst/>
          </a:prstGeom>
        </p:spPr>
      </p:pic>
      <p:sp>
        <p:nvSpPr>
          <p:cNvPr id="17" name="이유 제목 2"/>
          <p:cNvSpPr txBox="1"/>
          <p:nvPr/>
        </p:nvSpPr>
        <p:spPr>
          <a:xfrm>
            <a:off x="6172200" y="30632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이익에 과하지 않다</a:t>
            </a:r>
            <a:endParaRPr lang="en-US" sz="1600" dirty="0"/>
          </a:p>
        </p:txBody>
      </p:sp>
      <p:sp>
        <p:nvSpPr>
          <p:cNvPr id="18" name="이유 설명 2"/>
          <p:cNvSpPr txBox="1"/>
          <p:nvPr/>
        </p:nvSpPr>
        <p:spPr>
          <a:xfrm>
            <a:off x="6172200" y="34747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영업이익의 약 4.3%로 국내 평균(세전이익의 3~4%)과 비슷합니다.</a:t>
            </a:r>
            <a:endParaRPr lang="en-US" sz="1400" dirty="0"/>
          </a:p>
        </p:txBody>
      </p:sp>
      <p:sp>
        <p:nvSpPr>
          <p:cNvPr id="19" name="이유 카드 3"/>
          <p:cNvSpPr/>
          <p:nvPr/>
        </p:nvSpPr>
        <p:spPr>
          <a:xfrm>
            <a:off x="5029200" y="448056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이유 3 원"/>
          <p:cNvSpPr/>
          <p:nvPr/>
        </p:nvSpPr>
        <p:spPr>
          <a:xfrm>
            <a:off x="5257800" y="484632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21" name="이유 3 아이콘" descr="이유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006340"/>
            <a:ext cx="320040" cy="320040"/>
          </a:xfrm>
          <a:prstGeom prst="rect">
            <a:avLst/>
          </a:prstGeom>
        </p:spPr>
      </p:pic>
      <p:sp>
        <p:nvSpPr>
          <p:cNvPr id="22" name="이유 제목 3"/>
          <p:cNvSpPr txBox="1"/>
          <p:nvPr/>
        </p:nvSpPr>
        <p:spPr>
          <a:xfrm>
            <a:off x="6172200" y="46177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현금 부담이 작다</a:t>
            </a:r>
            <a:endParaRPr lang="en-US" sz="1600" dirty="0"/>
          </a:p>
        </p:txBody>
      </p:sp>
      <p:sp>
        <p:nvSpPr>
          <p:cNvPr id="23" name="이유 설명 3"/>
          <p:cNvSpPr txBox="1"/>
          <p:nvPr/>
        </p:nvSpPr>
        <p:spPr>
          <a:xfrm>
            <a:off x="6172200" y="5029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70%가 제품·재능·봉사라 적자인 1년차에도 약속을 지킬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환원 방식과 연도별 금액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4023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환원 금액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6793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68680"/>
                <a:gridCol w="2724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활동 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제품 기부 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취약계층·청소년 시설에 제품 전달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후원금 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건강 단체 정기 후원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재능기부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엔지니어링 교육·메이커 멘토링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봉사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임직원 봉사의 날 운영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 (만원)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2,700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매출의 0.5%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환원 각주 카드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환원 각주"/>
          <p:cNvSpPr txBox="1"/>
          <p:nvPr/>
        </p:nvSpPr>
        <p:spPr>
          <a:xfrm>
            <a:off x="777240" y="5486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금액 단위는 만원이며 반올림했습니다. 제품 기부는 1·2·3년차 각각 약 40대·130대·270대(제조원가 환산). 재능기부와 봉사는 임직원 근무시간 환산액입니다.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실행 로드맵과 다음 단계</a:t>
            </a:r>
            <a:endParaRPr lang="en-US" sz="3000" dirty="0"/>
          </a:p>
        </p:txBody>
      </p:sp>
      <p:sp>
        <p:nvSpPr>
          <p:cNvPr id="4" name="로드맵 카드 1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로드맵 번호 원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로드맵 번호 1"/>
          <p:cNvSpPr txBox="1"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로드맵 기간 1"/>
          <p:cNvSpPr txBox="1"/>
          <p:nvPr/>
        </p:nvSpPr>
        <p:spPr>
          <a:xfrm>
            <a:off x="8229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0~3개월</a:t>
            </a:r>
            <a:endParaRPr lang="en-US" sz="2000" dirty="0"/>
          </a:p>
        </p:txBody>
      </p:sp>
      <p:sp>
        <p:nvSpPr>
          <p:cNvPr id="8" name="로드맵 이름 1"/>
          <p:cNvSpPr txBox="1"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제품 개발</a:t>
            </a:r>
            <a:endParaRPr lang="en-US" sz="1500" dirty="0"/>
          </a:p>
        </p:txBody>
      </p:sp>
      <p:sp>
        <p:nvSpPr>
          <p:cNvPr id="9" name="로드맵 항목 1"/>
          <p:cNvSpPr txBox="1"/>
          <p:nvPr/>
        </p:nvSpPr>
        <p:spPr>
          <a:xfrm>
            <a:off x="8229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시제품과 안전 설계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특허·상표 조사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KC 인증 준비</a:t>
            </a:r>
            <a:endParaRPr lang="en-US" sz="1400" dirty="0"/>
          </a:p>
        </p:txBody>
      </p:sp>
      <p:sp>
        <p:nvSpPr>
          <p:cNvPr id="10" name="로드맵 카드 2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로드맵 번호 원 2"/>
          <p:cNvSpPr/>
          <p:nvPr/>
        </p:nvSpPr>
        <p:spPr>
          <a:xfrm>
            <a:off x="365760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로드맵 번호 2"/>
          <p:cNvSpPr txBox="1"/>
          <p:nvPr/>
        </p:nvSpPr>
        <p:spPr>
          <a:xfrm>
            <a:off x="36576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로드맵 기간 2"/>
          <p:cNvSpPr txBox="1"/>
          <p:nvPr/>
        </p:nvSpPr>
        <p:spPr>
          <a:xfrm>
            <a:off x="36576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3~6개월</a:t>
            </a:r>
            <a:endParaRPr lang="en-US" sz="2000" dirty="0"/>
          </a:p>
        </p:txBody>
      </p:sp>
      <p:sp>
        <p:nvSpPr>
          <p:cNvPr id="14" name="로드맵 이름 2"/>
          <p:cNvSpPr txBox="1"/>
          <p:nvPr/>
        </p:nvSpPr>
        <p:spPr>
          <a:xfrm>
            <a:off x="36576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선판매</a:t>
            </a:r>
            <a:endParaRPr lang="en-US" sz="1500" dirty="0"/>
          </a:p>
        </p:txBody>
      </p:sp>
      <p:sp>
        <p:nvSpPr>
          <p:cNvPr id="15" name="로드맵 항목 2"/>
          <p:cNvSpPr txBox="1"/>
          <p:nvPr/>
        </p:nvSpPr>
        <p:spPr>
          <a:xfrm>
            <a:off x="365760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크라우드펀딩 선판매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수요와 가격 검증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초도 생산 발주</a:t>
            </a:r>
            <a:endParaRPr lang="en-US" sz="1400" dirty="0"/>
          </a:p>
        </p:txBody>
      </p:sp>
      <p:sp>
        <p:nvSpPr>
          <p:cNvPr id="16" name="로드맵 카드 3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로드맵 번호 원 3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로드맵 번호 3"/>
          <p:cNvSpPr txBox="1"/>
          <p:nvPr/>
        </p:nvSpPr>
        <p:spPr>
          <a:xfrm>
            <a:off x="6492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로드맵 기간 3"/>
          <p:cNvSpPr txBox="1"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6~12개월</a:t>
            </a:r>
            <a:endParaRPr lang="en-US" sz="2000" dirty="0"/>
          </a:p>
        </p:txBody>
      </p:sp>
      <p:sp>
        <p:nvSpPr>
          <p:cNvPr id="20" name="로드맵 이름 3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정식 출시</a:t>
            </a:r>
            <a:endParaRPr lang="en-US" sz="1500" dirty="0"/>
          </a:p>
        </p:txBody>
      </p:sp>
      <p:sp>
        <p:nvSpPr>
          <p:cNvPr id="21" name="로드맵 항목 3"/>
          <p:cNvSpPr txBox="1"/>
          <p:nvPr/>
        </p:nvSpPr>
        <p:spPr>
          <a:xfrm>
            <a:off x="649224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자사몰·마켓 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기부 프로그램 시작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고객 후기 수집</a:t>
            </a:r>
            <a:endParaRPr lang="en-US" sz="1400" dirty="0"/>
          </a:p>
        </p:txBody>
      </p:sp>
      <p:sp>
        <p:nvSpPr>
          <p:cNvPr id="22" name="로드맵 카드 4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로드맵 번호 원 4"/>
          <p:cNvSpPr/>
          <p:nvPr/>
        </p:nvSpPr>
        <p:spPr>
          <a:xfrm>
            <a:off x="932688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로드맵 번호 4"/>
          <p:cNvSpPr txBox="1"/>
          <p:nvPr/>
        </p:nvSpPr>
        <p:spPr>
          <a:xfrm>
            <a:off x="9326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로드맵 기간 4"/>
          <p:cNvSpPr txBox="1"/>
          <p:nvPr/>
        </p:nvSpPr>
        <p:spPr>
          <a:xfrm>
            <a:off x="9326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2~3년차</a:t>
            </a:r>
            <a:endParaRPr lang="en-US" sz="2000" dirty="0"/>
          </a:p>
        </p:txBody>
      </p:sp>
      <p:sp>
        <p:nvSpPr>
          <p:cNvPr id="26" name="로드맵 이름 4"/>
          <p:cNvSpPr txBox="1"/>
          <p:nvPr/>
        </p:nvSpPr>
        <p:spPr>
          <a:xfrm>
            <a:off x="93268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확장</a:t>
            </a:r>
            <a:endParaRPr lang="en-US" sz="1500" dirty="0"/>
          </a:p>
        </p:txBody>
      </p:sp>
      <p:sp>
        <p:nvSpPr>
          <p:cNvPr id="27" name="로드맵 항목 4"/>
          <p:cNvSpPr txBox="1"/>
          <p:nvPr/>
        </p:nvSpPr>
        <p:spPr>
          <a:xfrm>
            <a:off x="932688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호텔·기숙사 B2B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해외 진출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환원 1% 상향 검토</a:t>
            </a:r>
            <a:endParaRPr lang="en-US" sz="1400" dirty="0"/>
          </a:p>
        </p:txBody>
      </p:sp>
      <p:sp>
        <p:nvSpPr>
          <p:cNvPr id="28" name="검증 카드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검증 제목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먼저 검증할 것</a:t>
            </a:r>
            <a:endParaRPr lang="en-US" sz="1400" dirty="0"/>
          </a:p>
        </p:txBody>
      </p:sp>
      <p:sp>
        <p:nvSpPr>
          <p:cNvPr id="30" name="검증 내용"/>
          <p:cNvSpPr txBox="1"/>
          <p:nvPr/>
        </p:nvSpPr>
        <p:spPr>
          <a:xfrm>
            <a:off x="822960" y="54681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① 소비자 설문으로 9.9만원 지불 의사 확인  ② 손 동작 안전성(어린이·반려동물·수면 중 부상)  ③ 유사 특허 침해 여부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가정과 출처</a:t>
            </a:r>
            <a:endParaRPr lang="en-US" sz="3000" dirty="0"/>
          </a:p>
        </p:txBody>
      </p:sp>
      <p:sp>
        <p:nvSpPr>
          <p:cNvPr id="4" name="가정 제목"/>
          <p:cNvSpPr txBox="1"/>
          <p:nvPr/>
        </p:nvSpPr>
        <p:spPr>
          <a:xfrm>
            <a:off x="5486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주요 가정</a:t>
            </a:r>
            <a:endParaRPr lang="en-US" sz="1600" dirty="0"/>
          </a:p>
        </p:txBody>
      </p:sp>
      <p:sp>
        <p:nvSpPr>
          <p:cNvPr id="5" name="가정 목록"/>
          <p:cNvSpPr txBox="1"/>
          <p:nvPr/>
        </p:nvSpPr>
        <p:spPr>
          <a:xfrm>
            <a:off x="548640" y="1828800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환율 1,400원/$, 소비자가 99,000원(공급가 90,000원)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 채널: 자사몰 35%, 마켓 35%, 크라우드펀딩 20%, 오프라인·B2B 10% → 평균 수수료 11%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인건비: 1년차 5명 2.0억원, 3년차 14명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경쟁 제품 비용 비중은 공개 재무자료가 없어 추정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세법·기부 한도는 2차 자료, 신고 전 세무사 확인 필요</a:t>
            </a:r>
            <a:endParaRPr lang="en-US" sz="1300" dirty="0"/>
          </a:p>
        </p:txBody>
      </p:sp>
      <p:sp>
        <p:nvSpPr>
          <p:cNvPr id="6" name="출처 제목"/>
          <p:cNvSpPr txBox="1"/>
          <p:nvPr/>
        </p:nvSpPr>
        <p:spPr>
          <a:xfrm>
            <a:off x="4846320" y="1371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출처</a:t>
            </a:r>
            <a:endParaRPr lang="en-US" sz="1600" dirty="0"/>
          </a:p>
        </p:txBody>
      </p:sp>
      <p:sp>
        <p:nvSpPr>
          <p:cNvPr id="7" name="출처 목록"/>
          <p:cNvSpPr txBox="1"/>
          <p:nvPr/>
        </p:nvSpPr>
        <p:spPr>
          <a:xfrm>
            <a:off x="4846320" y="1828800"/>
            <a:ext cx="67665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(Laughing Squid)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(Make:)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(Wikipedia)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가격 (New Atlas, 2007)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Sonic Alert 침대 진동기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판매 순위 (asinsight)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(TBRC)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(TechSci)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베개 시장 (Technavio)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전경련 사회공헌 조사 (이투데이)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Patagonia 1% for the Planet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u="sng" dirty="0">
                <a:solidFill>
                  <a:schemeClr val="tx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법인 기부금 한도 (2차 자료)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ning Hands">
  <a:themeElements>
    <a:clrScheme name="Morning Hands">
      <a:dk1>
        <a:srgbClr val="1B1F3B"/>
      </a:dk1>
      <a:lt1>
        <a:srgbClr val="FFFFFF"/>
      </a:lt1>
      <a:dk2>
        <a:srgbClr val="2E3566"/>
      </a:dk2>
      <a:lt2>
        <a:srgbClr val="EEF0F8"/>
      </a:lt2>
      <a:accent1>
        <a:srgbClr val="F4A259"/>
      </a:accent1>
      <a:accent2>
        <a:srgbClr val="5B6ABF"/>
      </a:accent2>
      <a:accent3>
        <a:srgbClr val="3E8E7E"/>
      </a:accent3>
      <a:accent4>
        <a:srgbClr val="E76F51"/>
      </a:accent4>
      <a:accent5>
        <a:srgbClr val="8E9AAF"/>
      </a:accent5>
      <a:accent6>
        <a:srgbClr val="B8C0E0"/>
      </a:accent6>
      <a:hlink>
        <a:srgbClr val="5B6ABF"/>
      </a:hlink>
      <a:folHlink>
        <a:srgbClr val="8E9AAF"/>
      </a:folHlink>
    </a:clrScheme>
    <a:fontScheme name="Morning Hand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모닝핸즈(가칭) 창업 사업 분석</dc:title>
  <dc:subject>PptxGenJS Presentation</dc:subject>
  <dc:creator>모닝핸즈 창업팀</dc:creator>
  <cp:lastModifiedBy>모닝핸즈 창업팀</cp:lastModifiedBy>
  <cp:revision>1</cp:revision>
  <dcterms:created xsi:type="dcterms:W3CDTF">2026-10-21T00:37:09Z</dcterms:created>
  <dcterms:modified xsi:type="dcterms:W3CDTF">2026-10-21T00:37:09Z</dcterms:modified>
</cp:coreProperties>
</file>